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84C477-FA02-4499-8876-F64AF419572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BF05D3A7-A90A-4EF4-9C06-40FB39F9277F}">
      <dgm:prSet custT="1"/>
      <dgm:spPr/>
      <dgm:t>
        <a:bodyPr/>
        <a:lstStyle/>
        <a:p>
          <a:pPr algn="ctr">
            <a:lnSpc>
              <a:spcPct val="100000"/>
            </a:lnSpc>
          </a:pPr>
          <a:r>
            <a:rPr lang="en-US" sz="1800" b="1" dirty="0"/>
            <a:t>Restore:</a:t>
          </a:r>
          <a:r>
            <a:rPr lang="en-US" sz="1600" dirty="0"/>
            <a:t> It is the act that involves the restoration of all files that will be required to recover your database to a consistent state, for example, copying all backup files from a secondary location such as tape or storage to your stage area</a:t>
          </a:r>
        </a:p>
      </dgm:t>
    </dgm:pt>
    <dgm:pt modelId="{EFA1F056-4B44-44FB-83EA-ADF115BAE377}" type="parTrans" cxnId="{74BA462B-92D5-4DD9-9603-DA689705BC6C}">
      <dgm:prSet/>
      <dgm:spPr/>
      <dgm:t>
        <a:bodyPr/>
        <a:lstStyle/>
        <a:p>
          <a:endParaRPr lang="en-US"/>
        </a:p>
      </dgm:t>
    </dgm:pt>
    <dgm:pt modelId="{9504A0CA-F696-4C5F-B3B7-7D24D0AD255D}" type="sibTrans" cxnId="{74BA462B-92D5-4DD9-9603-DA689705BC6C}">
      <dgm:prSet/>
      <dgm:spPr/>
      <dgm:t>
        <a:bodyPr/>
        <a:lstStyle/>
        <a:p>
          <a:endParaRPr lang="en-US"/>
        </a:p>
      </dgm:t>
    </dgm:pt>
    <dgm:pt modelId="{A080F9EE-5C34-4818-A669-ABFCE6011F2E}">
      <dgm:prSet custT="1"/>
      <dgm:spPr/>
      <dgm:t>
        <a:bodyPr/>
        <a:lstStyle/>
        <a:p>
          <a:pPr>
            <a:lnSpc>
              <a:spcPct val="100000"/>
            </a:lnSpc>
          </a:pPr>
          <a:r>
            <a:rPr lang="en-US" sz="1800" b="1" dirty="0"/>
            <a:t>Recovery:</a:t>
          </a:r>
          <a:r>
            <a:rPr lang="en-US" sz="1600" b="1" dirty="0"/>
            <a:t> </a:t>
          </a:r>
          <a:r>
            <a:rPr lang="en-US" sz="1600" dirty="0"/>
            <a:t>It is the process to apply all transactions recorded in your archive logs, rolling your database forward to a point-in-time or until the last transaction recorded is </a:t>
          </a:r>
          <a:r>
            <a:rPr lang="en-US" sz="1800" dirty="0"/>
            <a:t>applied</a:t>
          </a:r>
          <a:r>
            <a:rPr lang="en-US" sz="1600" dirty="0"/>
            <a:t>, thus recovering your database to the point-in-time you need</a:t>
          </a:r>
        </a:p>
      </dgm:t>
    </dgm:pt>
    <dgm:pt modelId="{62F60409-0B75-484F-A90A-7FCBA5EB0EDC}" type="parTrans" cxnId="{E2FD5972-5B32-463B-9999-4904B37B7C17}">
      <dgm:prSet/>
      <dgm:spPr/>
      <dgm:t>
        <a:bodyPr/>
        <a:lstStyle/>
        <a:p>
          <a:endParaRPr lang="en-US"/>
        </a:p>
      </dgm:t>
    </dgm:pt>
    <dgm:pt modelId="{2BA187F0-6231-454B-B34D-2765C6F8E0A9}" type="sibTrans" cxnId="{E2FD5972-5B32-463B-9999-4904B37B7C17}">
      <dgm:prSet/>
      <dgm:spPr/>
      <dgm:t>
        <a:bodyPr/>
        <a:lstStyle/>
        <a:p>
          <a:endParaRPr lang="en-US"/>
        </a:p>
      </dgm:t>
    </dgm:pt>
    <dgm:pt modelId="{87878D0D-5BF0-4E34-A0D3-3742A82D9E0A}" type="pres">
      <dgm:prSet presAssocID="{9584C477-FA02-4499-8876-F64AF4195721}" presName="root" presStyleCnt="0">
        <dgm:presLayoutVars>
          <dgm:dir/>
          <dgm:resizeHandles val="exact"/>
        </dgm:presLayoutVars>
      </dgm:prSet>
      <dgm:spPr/>
    </dgm:pt>
    <dgm:pt modelId="{CDCDCB01-6855-4162-8127-08ECDA95B8E8}" type="pres">
      <dgm:prSet presAssocID="{BF05D3A7-A90A-4EF4-9C06-40FB39F9277F}" presName="compNode" presStyleCnt="0"/>
      <dgm:spPr/>
    </dgm:pt>
    <dgm:pt modelId="{03B9E38E-BB9C-4090-A89D-0B164B86B0E3}" type="pres">
      <dgm:prSet presAssocID="{BF05D3A7-A90A-4EF4-9C06-40FB39F9277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7E03963B-EDBE-4766-AFAE-08C18A94D806}" type="pres">
      <dgm:prSet presAssocID="{BF05D3A7-A90A-4EF4-9C06-40FB39F9277F}" presName="spaceRect" presStyleCnt="0"/>
      <dgm:spPr/>
    </dgm:pt>
    <dgm:pt modelId="{4247057C-8498-4883-9F5B-CFEE44529E1C}" type="pres">
      <dgm:prSet presAssocID="{BF05D3A7-A90A-4EF4-9C06-40FB39F9277F}" presName="textRect" presStyleLbl="revTx" presStyleIdx="0" presStyleCnt="2" custScaleX="114427">
        <dgm:presLayoutVars>
          <dgm:chMax val="1"/>
          <dgm:chPref val="1"/>
        </dgm:presLayoutVars>
      </dgm:prSet>
      <dgm:spPr/>
    </dgm:pt>
    <dgm:pt modelId="{FD6A83CF-83A7-4AF5-856A-ADC26C60D1C4}" type="pres">
      <dgm:prSet presAssocID="{9504A0CA-F696-4C5F-B3B7-7D24D0AD255D}" presName="sibTrans" presStyleCnt="0"/>
      <dgm:spPr/>
    </dgm:pt>
    <dgm:pt modelId="{265C7CE3-534A-44C0-AA0C-E9C6B51717DF}" type="pres">
      <dgm:prSet presAssocID="{A080F9EE-5C34-4818-A669-ABFCE6011F2E}" presName="compNode" presStyleCnt="0"/>
      <dgm:spPr/>
    </dgm:pt>
    <dgm:pt modelId="{F372A410-697D-4435-9977-05596B84CBCA}" type="pres">
      <dgm:prSet presAssocID="{A080F9EE-5C34-4818-A669-ABFCE6011F2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k"/>
        </a:ext>
      </dgm:extLst>
    </dgm:pt>
    <dgm:pt modelId="{E82CFB38-D20D-42D1-B222-3370A1B8C27E}" type="pres">
      <dgm:prSet presAssocID="{A080F9EE-5C34-4818-A669-ABFCE6011F2E}" presName="spaceRect" presStyleCnt="0"/>
      <dgm:spPr/>
    </dgm:pt>
    <dgm:pt modelId="{F76EC4FC-F849-4F07-9324-E6C6349C86E7}" type="pres">
      <dgm:prSet presAssocID="{A080F9EE-5C34-4818-A669-ABFCE6011F2E}" presName="textRect" presStyleLbl="revTx" presStyleIdx="1" presStyleCnt="2" custScaleX="124109" custLinFactNeighborX="-1347" custLinFactNeighborY="5467">
        <dgm:presLayoutVars>
          <dgm:chMax val="1"/>
          <dgm:chPref val="1"/>
        </dgm:presLayoutVars>
      </dgm:prSet>
      <dgm:spPr/>
    </dgm:pt>
  </dgm:ptLst>
  <dgm:cxnLst>
    <dgm:cxn modelId="{5A9BC011-038F-40A9-BDA0-CDF5B8E464C6}" type="presOf" srcId="{9584C477-FA02-4499-8876-F64AF4195721}" destId="{87878D0D-5BF0-4E34-A0D3-3742A82D9E0A}" srcOrd="0" destOrd="0" presId="urn:microsoft.com/office/officeart/2018/2/layout/IconLabelList"/>
    <dgm:cxn modelId="{74BA462B-92D5-4DD9-9603-DA689705BC6C}" srcId="{9584C477-FA02-4499-8876-F64AF4195721}" destId="{BF05D3A7-A90A-4EF4-9C06-40FB39F9277F}" srcOrd="0" destOrd="0" parTransId="{EFA1F056-4B44-44FB-83EA-ADF115BAE377}" sibTransId="{9504A0CA-F696-4C5F-B3B7-7D24D0AD255D}"/>
    <dgm:cxn modelId="{E2FD5972-5B32-463B-9999-4904B37B7C17}" srcId="{9584C477-FA02-4499-8876-F64AF4195721}" destId="{A080F9EE-5C34-4818-A669-ABFCE6011F2E}" srcOrd="1" destOrd="0" parTransId="{62F60409-0B75-484F-A90A-7FCBA5EB0EDC}" sibTransId="{2BA187F0-6231-454B-B34D-2765C6F8E0A9}"/>
    <dgm:cxn modelId="{28793892-798C-4D2E-923D-A742CF16C154}" type="presOf" srcId="{BF05D3A7-A90A-4EF4-9C06-40FB39F9277F}" destId="{4247057C-8498-4883-9F5B-CFEE44529E1C}" srcOrd="0" destOrd="0" presId="urn:microsoft.com/office/officeart/2018/2/layout/IconLabelList"/>
    <dgm:cxn modelId="{D4EC339D-806D-4EE3-B58A-6BE93B92206F}" type="presOf" srcId="{A080F9EE-5C34-4818-A669-ABFCE6011F2E}" destId="{F76EC4FC-F849-4F07-9324-E6C6349C86E7}" srcOrd="0" destOrd="0" presId="urn:microsoft.com/office/officeart/2018/2/layout/IconLabelList"/>
    <dgm:cxn modelId="{5D40B169-90CF-403A-85A1-60DB969D04A3}" type="presParOf" srcId="{87878D0D-5BF0-4E34-A0D3-3742A82D9E0A}" destId="{CDCDCB01-6855-4162-8127-08ECDA95B8E8}" srcOrd="0" destOrd="0" presId="urn:microsoft.com/office/officeart/2018/2/layout/IconLabelList"/>
    <dgm:cxn modelId="{2A340B81-3B03-4112-AE13-7C6C8BF9F1B0}" type="presParOf" srcId="{CDCDCB01-6855-4162-8127-08ECDA95B8E8}" destId="{03B9E38E-BB9C-4090-A89D-0B164B86B0E3}" srcOrd="0" destOrd="0" presId="urn:microsoft.com/office/officeart/2018/2/layout/IconLabelList"/>
    <dgm:cxn modelId="{A1C7B246-0315-4C7A-B567-A6DE6F4C9DE8}" type="presParOf" srcId="{CDCDCB01-6855-4162-8127-08ECDA95B8E8}" destId="{7E03963B-EDBE-4766-AFAE-08C18A94D806}" srcOrd="1" destOrd="0" presId="urn:microsoft.com/office/officeart/2018/2/layout/IconLabelList"/>
    <dgm:cxn modelId="{881481E3-B2B0-4F19-B69C-82463288F4E8}" type="presParOf" srcId="{CDCDCB01-6855-4162-8127-08ECDA95B8E8}" destId="{4247057C-8498-4883-9F5B-CFEE44529E1C}" srcOrd="2" destOrd="0" presId="urn:microsoft.com/office/officeart/2018/2/layout/IconLabelList"/>
    <dgm:cxn modelId="{825B342D-77F2-4D1C-9BF1-4E2520F7C909}" type="presParOf" srcId="{87878D0D-5BF0-4E34-A0D3-3742A82D9E0A}" destId="{FD6A83CF-83A7-4AF5-856A-ADC26C60D1C4}" srcOrd="1" destOrd="0" presId="urn:microsoft.com/office/officeart/2018/2/layout/IconLabelList"/>
    <dgm:cxn modelId="{147DC73A-5242-4819-ADBE-2B12DC6E6810}" type="presParOf" srcId="{87878D0D-5BF0-4E34-A0D3-3742A82D9E0A}" destId="{265C7CE3-534A-44C0-AA0C-E9C6B51717DF}" srcOrd="2" destOrd="0" presId="urn:microsoft.com/office/officeart/2018/2/layout/IconLabelList"/>
    <dgm:cxn modelId="{2DC56CF9-28C5-49FB-9D47-AD84380E6AD9}" type="presParOf" srcId="{265C7CE3-534A-44C0-AA0C-E9C6B51717DF}" destId="{F372A410-697D-4435-9977-05596B84CBCA}" srcOrd="0" destOrd="0" presId="urn:microsoft.com/office/officeart/2018/2/layout/IconLabelList"/>
    <dgm:cxn modelId="{A5211CF2-1EDA-4094-8D73-92381ADA7838}" type="presParOf" srcId="{265C7CE3-534A-44C0-AA0C-E9C6B51717DF}" destId="{E82CFB38-D20D-42D1-B222-3370A1B8C27E}" srcOrd="1" destOrd="0" presId="urn:microsoft.com/office/officeart/2018/2/layout/IconLabelList"/>
    <dgm:cxn modelId="{2C279B41-B770-436E-B0A1-FA540378258D}" type="presParOf" srcId="{265C7CE3-534A-44C0-AA0C-E9C6B51717DF}" destId="{F76EC4FC-F849-4F07-9324-E6C6349C86E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A88171-BD48-4CE5-ADA8-E68A85257538}" type="doc">
      <dgm:prSet loTypeId="urn:microsoft.com/office/officeart/2005/8/layout/hierarchy1" loCatId="hierarchy" qsTypeId="urn:microsoft.com/office/officeart/2005/8/quickstyle/simple4" qsCatId="simple" csTypeId="urn:microsoft.com/office/officeart/2005/8/colors/accent0_3" csCatId="mainScheme"/>
      <dgm:spPr/>
      <dgm:t>
        <a:bodyPr/>
        <a:lstStyle/>
        <a:p>
          <a:endParaRPr lang="en-US"/>
        </a:p>
      </dgm:t>
    </dgm:pt>
    <dgm:pt modelId="{8E1647D2-1236-4BF7-9932-A4ADD4930AE0}">
      <dgm:prSet/>
      <dgm:spPr/>
      <dgm:t>
        <a:bodyPr/>
        <a:lstStyle/>
        <a:p>
          <a:r>
            <a:rPr lang="en-US"/>
            <a:t>When your database is created by default, it will be created using the </a:t>
          </a:r>
          <a:r>
            <a:rPr lang="en-US" b="1"/>
            <a:t>NOARCHIVELOG </a:t>
          </a:r>
          <a:r>
            <a:rPr lang="en-US"/>
            <a:t>mode. This mode permits any normal database operations but will not provide your database with the capability to perform any point-in-time recovery operations or online backups of your database.</a:t>
          </a:r>
        </a:p>
      </dgm:t>
    </dgm:pt>
    <dgm:pt modelId="{6F2772CA-81EB-4239-B89E-97B6C1B332BD}" type="parTrans" cxnId="{A486F51D-5578-4D81-A565-0C817966DB9E}">
      <dgm:prSet/>
      <dgm:spPr/>
      <dgm:t>
        <a:bodyPr/>
        <a:lstStyle/>
        <a:p>
          <a:endParaRPr lang="en-US"/>
        </a:p>
      </dgm:t>
    </dgm:pt>
    <dgm:pt modelId="{D3B74CE9-FEF0-47F9-973B-ED0488807C92}" type="sibTrans" cxnId="{A486F51D-5578-4D81-A565-0C817966DB9E}">
      <dgm:prSet/>
      <dgm:spPr/>
      <dgm:t>
        <a:bodyPr/>
        <a:lstStyle/>
        <a:p>
          <a:endParaRPr lang="en-US"/>
        </a:p>
      </dgm:t>
    </dgm:pt>
    <dgm:pt modelId="{66841F87-F24B-4D6C-9C55-B9E8E434DA50}">
      <dgm:prSet/>
      <dgm:spPr/>
      <dgm:t>
        <a:bodyPr/>
        <a:lstStyle/>
        <a:p>
          <a:r>
            <a:rPr lang="en-US"/>
            <a:t>When the database is using this mode, </a:t>
          </a:r>
          <a:r>
            <a:rPr lang="en-US" b="1"/>
            <a:t>no hot backup is possible </a:t>
          </a:r>
          <a:r>
            <a:rPr lang="en-US"/>
            <a:t>(hot backup is any backup done with the database open, causing no interruption for the users). You will only be able to perform backups with your </a:t>
          </a:r>
          <a:r>
            <a:rPr lang="en-US" b="1"/>
            <a:t>database down </a:t>
          </a:r>
          <a:r>
            <a:rPr lang="en-US"/>
            <a:t>(shutdown, also known as the </a:t>
          </a:r>
          <a:r>
            <a:rPr lang="en-US" b="1"/>
            <a:t>offline backup or the cold backup</a:t>
          </a:r>
          <a:r>
            <a:rPr lang="en-US"/>
            <a:t>), and you will only be able to perform a full recovery up to the point that your backup was made</a:t>
          </a:r>
        </a:p>
      </dgm:t>
    </dgm:pt>
    <dgm:pt modelId="{EC1B0C53-F1F4-48FC-8185-1FFE8A6F4A3C}" type="parTrans" cxnId="{04F1FEB1-2C67-405C-B5AC-11976421F082}">
      <dgm:prSet/>
      <dgm:spPr/>
      <dgm:t>
        <a:bodyPr/>
        <a:lstStyle/>
        <a:p>
          <a:endParaRPr lang="en-US"/>
        </a:p>
      </dgm:t>
    </dgm:pt>
    <dgm:pt modelId="{ED0C602A-50BA-4E66-960E-81ABCC6DCD52}" type="sibTrans" cxnId="{04F1FEB1-2C67-405C-B5AC-11976421F082}">
      <dgm:prSet/>
      <dgm:spPr/>
      <dgm:t>
        <a:bodyPr/>
        <a:lstStyle/>
        <a:p>
          <a:endParaRPr lang="en-US"/>
        </a:p>
      </dgm:t>
    </dgm:pt>
    <dgm:pt modelId="{E43E9589-7FA5-473B-9CF0-4BCC5874599F}" type="pres">
      <dgm:prSet presAssocID="{6BA88171-BD48-4CE5-ADA8-E68A85257538}" presName="hierChild1" presStyleCnt="0">
        <dgm:presLayoutVars>
          <dgm:chPref val="1"/>
          <dgm:dir/>
          <dgm:animOne val="branch"/>
          <dgm:animLvl val="lvl"/>
          <dgm:resizeHandles/>
        </dgm:presLayoutVars>
      </dgm:prSet>
      <dgm:spPr/>
    </dgm:pt>
    <dgm:pt modelId="{876B5F12-EDEC-4A80-A16B-644267C3FD76}" type="pres">
      <dgm:prSet presAssocID="{8E1647D2-1236-4BF7-9932-A4ADD4930AE0}" presName="hierRoot1" presStyleCnt="0"/>
      <dgm:spPr/>
    </dgm:pt>
    <dgm:pt modelId="{E39952F2-3C5F-4B7C-AD00-22701C4925FB}" type="pres">
      <dgm:prSet presAssocID="{8E1647D2-1236-4BF7-9932-A4ADD4930AE0}" presName="composite" presStyleCnt="0"/>
      <dgm:spPr/>
    </dgm:pt>
    <dgm:pt modelId="{AF20EB62-E91C-46B8-B7E0-9B1A64B4E827}" type="pres">
      <dgm:prSet presAssocID="{8E1647D2-1236-4BF7-9932-A4ADD4930AE0}" presName="background" presStyleLbl="node0" presStyleIdx="0" presStyleCnt="2"/>
      <dgm:spPr/>
    </dgm:pt>
    <dgm:pt modelId="{771ED4C9-B89A-4FF9-9DB2-EFA3F08E5516}" type="pres">
      <dgm:prSet presAssocID="{8E1647D2-1236-4BF7-9932-A4ADD4930AE0}" presName="text" presStyleLbl="fgAcc0" presStyleIdx="0" presStyleCnt="2">
        <dgm:presLayoutVars>
          <dgm:chPref val="3"/>
        </dgm:presLayoutVars>
      </dgm:prSet>
      <dgm:spPr/>
    </dgm:pt>
    <dgm:pt modelId="{4B826C9C-9A24-4C61-B7A1-4FDD5483979E}" type="pres">
      <dgm:prSet presAssocID="{8E1647D2-1236-4BF7-9932-A4ADD4930AE0}" presName="hierChild2" presStyleCnt="0"/>
      <dgm:spPr/>
    </dgm:pt>
    <dgm:pt modelId="{A85624C9-AA08-475F-8578-883BA46E81F5}" type="pres">
      <dgm:prSet presAssocID="{66841F87-F24B-4D6C-9C55-B9E8E434DA50}" presName="hierRoot1" presStyleCnt="0"/>
      <dgm:spPr/>
    </dgm:pt>
    <dgm:pt modelId="{E4F726BE-A2EB-4A57-B2D0-0A50CFEEFCCD}" type="pres">
      <dgm:prSet presAssocID="{66841F87-F24B-4D6C-9C55-B9E8E434DA50}" presName="composite" presStyleCnt="0"/>
      <dgm:spPr/>
    </dgm:pt>
    <dgm:pt modelId="{70412E99-93E5-4AFC-AC37-8E201E56BF4E}" type="pres">
      <dgm:prSet presAssocID="{66841F87-F24B-4D6C-9C55-B9E8E434DA50}" presName="background" presStyleLbl="node0" presStyleIdx="1" presStyleCnt="2"/>
      <dgm:spPr/>
    </dgm:pt>
    <dgm:pt modelId="{824D2823-2B2C-45D1-9F94-2CB20C5F9DF2}" type="pres">
      <dgm:prSet presAssocID="{66841F87-F24B-4D6C-9C55-B9E8E434DA50}" presName="text" presStyleLbl="fgAcc0" presStyleIdx="1" presStyleCnt="2">
        <dgm:presLayoutVars>
          <dgm:chPref val="3"/>
        </dgm:presLayoutVars>
      </dgm:prSet>
      <dgm:spPr/>
    </dgm:pt>
    <dgm:pt modelId="{1DB50763-1D49-4BFC-8129-8F04B8CB0B88}" type="pres">
      <dgm:prSet presAssocID="{66841F87-F24B-4D6C-9C55-B9E8E434DA50}" presName="hierChild2" presStyleCnt="0"/>
      <dgm:spPr/>
    </dgm:pt>
  </dgm:ptLst>
  <dgm:cxnLst>
    <dgm:cxn modelId="{A486F51D-5578-4D81-A565-0C817966DB9E}" srcId="{6BA88171-BD48-4CE5-ADA8-E68A85257538}" destId="{8E1647D2-1236-4BF7-9932-A4ADD4930AE0}" srcOrd="0" destOrd="0" parTransId="{6F2772CA-81EB-4239-B89E-97B6C1B332BD}" sibTransId="{D3B74CE9-FEF0-47F9-973B-ED0488807C92}"/>
    <dgm:cxn modelId="{41126E8C-F91C-4D35-91E0-E066784A1C0E}" type="presOf" srcId="{66841F87-F24B-4D6C-9C55-B9E8E434DA50}" destId="{824D2823-2B2C-45D1-9F94-2CB20C5F9DF2}" srcOrd="0" destOrd="0" presId="urn:microsoft.com/office/officeart/2005/8/layout/hierarchy1"/>
    <dgm:cxn modelId="{3B312498-CDB9-456B-887C-BED0475C381D}" type="presOf" srcId="{6BA88171-BD48-4CE5-ADA8-E68A85257538}" destId="{E43E9589-7FA5-473B-9CF0-4BCC5874599F}" srcOrd="0" destOrd="0" presId="urn:microsoft.com/office/officeart/2005/8/layout/hierarchy1"/>
    <dgm:cxn modelId="{D2BBD7AE-3765-4EBB-B982-387140064DA5}" type="presOf" srcId="{8E1647D2-1236-4BF7-9932-A4ADD4930AE0}" destId="{771ED4C9-B89A-4FF9-9DB2-EFA3F08E5516}" srcOrd="0" destOrd="0" presId="urn:microsoft.com/office/officeart/2005/8/layout/hierarchy1"/>
    <dgm:cxn modelId="{04F1FEB1-2C67-405C-B5AC-11976421F082}" srcId="{6BA88171-BD48-4CE5-ADA8-E68A85257538}" destId="{66841F87-F24B-4D6C-9C55-B9E8E434DA50}" srcOrd="1" destOrd="0" parTransId="{EC1B0C53-F1F4-48FC-8185-1FFE8A6F4A3C}" sibTransId="{ED0C602A-50BA-4E66-960E-81ABCC6DCD52}"/>
    <dgm:cxn modelId="{3B626AF2-2541-4C84-AB8C-C8F49B27C963}" type="presParOf" srcId="{E43E9589-7FA5-473B-9CF0-4BCC5874599F}" destId="{876B5F12-EDEC-4A80-A16B-644267C3FD76}" srcOrd="0" destOrd="0" presId="urn:microsoft.com/office/officeart/2005/8/layout/hierarchy1"/>
    <dgm:cxn modelId="{844492C3-2B38-432A-9A78-00E045A41D57}" type="presParOf" srcId="{876B5F12-EDEC-4A80-A16B-644267C3FD76}" destId="{E39952F2-3C5F-4B7C-AD00-22701C4925FB}" srcOrd="0" destOrd="0" presId="urn:microsoft.com/office/officeart/2005/8/layout/hierarchy1"/>
    <dgm:cxn modelId="{89FC3A41-2813-45D8-B3B4-15E60BE45F1D}" type="presParOf" srcId="{E39952F2-3C5F-4B7C-AD00-22701C4925FB}" destId="{AF20EB62-E91C-46B8-B7E0-9B1A64B4E827}" srcOrd="0" destOrd="0" presId="urn:microsoft.com/office/officeart/2005/8/layout/hierarchy1"/>
    <dgm:cxn modelId="{E7FEDCCA-1A27-408C-841D-8F34BF80AC6F}" type="presParOf" srcId="{E39952F2-3C5F-4B7C-AD00-22701C4925FB}" destId="{771ED4C9-B89A-4FF9-9DB2-EFA3F08E5516}" srcOrd="1" destOrd="0" presId="urn:microsoft.com/office/officeart/2005/8/layout/hierarchy1"/>
    <dgm:cxn modelId="{817E8501-4B9B-4883-8BC6-ED42B99D3C6F}" type="presParOf" srcId="{876B5F12-EDEC-4A80-A16B-644267C3FD76}" destId="{4B826C9C-9A24-4C61-B7A1-4FDD5483979E}" srcOrd="1" destOrd="0" presId="urn:microsoft.com/office/officeart/2005/8/layout/hierarchy1"/>
    <dgm:cxn modelId="{4046D618-FF1F-4A87-880F-221F0EDE4919}" type="presParOf" srcId="{E43E9589-7FA5-473B-9CF0-4BCC5874599F}" destId="{A85624C9-AA08-475F-8578-883BA46E81F5}" srcOrd="1" destOrd="0" presId="urn:microsoft.com/office/officeart/2005/8/layout/hierarchy1"/>
    <dgm:cxn modelId="{F681FB94-6EDF-4EBE-9E7C-DDFB2784BAC7}" type="presParOf" srcId="{A85624C9-AA08-475F-8578-883BA46E81F5}" destId="{E4F726BE-A2EB-4A57-B2D0-0A50CFEEFCCD}" srcOrd="0" destOrd="0" presId="urn:microsoft.com/office/officeart/2005/8/layout/hierarchy1"/>
    <dgm:cxn modelId="{0D24D301-9B9E-458D-9B45-4A3D01E523B0}" type="presParOf" srcId="{E4F726BE-A2EB-4A57-B2D0-0A50CFEEFCCD}" destId="{70412E99-93E5-4AFC-AC37-8E201E56BF4E}" srcOrd="0" destOrd="0" presId="urn:microsoft.com/office/officeart/2005/8/layout/hierarchy1"/>
    <dgm:cxn modelId="{FAE446BD-B470-48AC-8B06-5B1E801F9EB2}" type="presParOf" srcId="{E4F726BE-A2EB-4A57-B2D0-0A50CFEEFCCD}" destId="{824D2823-2B2C-45D1-9F94-2CB20C5F9DF2}" srcOrd="1" destOrd="0" presId="urn:microsoft.com/office/officeart/2005/8/layout/hierarchy1"/>
    <dgm:cxn modelId="{D1251A91-8834-4291-B601-E68136890010}" type="presParOf" srcId="{A85624C9-AA08-475F-8578-883BA46E81F5}" destId="{1DB50763-1D49-4BFC-8129-8F04B8CB0B8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E842F2-B571-4739-ACA7-C2EA98DA3C8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82B3728-8E47-432D-9F9F-06B1BC0DD9A8}">
      <dgm:prSet/>
      <dgm:spPr/>
      <dgm:t>
        <a:bodyPr/>
        <a:lstStyle/>
        <a:p>
          <a:r>
            <a:rPr lang="en-US"/>
            <a:t>Hot backup of a whole database</a:t>
          </a:r>
        </a:p>
      </dgm:t>
    </dgm:pt>
    <dgm:pt modelId="{6CDE0E57-CE18-45D9-B9B7-9959D94D706D}" type="parTrans" cxnId="{47F9CDD9-14C9-4F80-8089-04018521B1D3}">
      <dgm:prSet/>
      <dgm:spPr/>
      <dgm:t>
        <a:bodyPr/>
        <a:lstStyle/>
        <a:p>
          <a:endParaRPr lang="en-US"/>
        </a:p>
      </dgm:t>
    </dgm:pt>
    <dgm:pt modelId="{4D131FFC-80F5-44D3-B533-C85E2F4970F4}" type="sibTrans" cxnId="{47F9CDD9-14C9-4F80-8089-04018521B1D3}">
      <dgm:prSet/>
      <dgm:spPr/>
      <dgm:t>
        <a:bodyPr/>
        <a:lstStyle/>
        <a:p>
          <a:endParaRPr lang="en-US"/>
        </a:p>
      </dgm:t>
    </dgm:pt>
    <dgm:pt modelId="{09004907-1B7A-4BF6-8D76-86C19BC6216D}">
      <dgm:prSet/>
      <dgm:spPr/>
      <dgm:t>
        <a:bodyPr/>
        <a:lstStyle/>
        <a:p>
          <a:r>
            <a:rPr lang="en-US"/>
            <a:t>Hot backup of tablespaces</a:t>
          </a:r>
        </a:p>
      </dgm:t>
    </dgm:pt>
    <dgm:pt modelId="{CBE143B4-277E-4899-B621-F748DDE8816B}" type="parTrans" cxnId="{347C1AD9-76A4-484A-A41B-C3394CF01B37}">
      <dgm:prSet/>
      <dgm:spPr/>
      <dgm:t>
        <a:bodyPr/>
        <a:lstStyle/>
        <a:p>
          <a:endParaRPr lang="en-US"/>
        </a:p>
      </dgm:t>
    </dgm:pt>
    <dgm:pt modelId="{047D8925-71EF-4EAD-AEE6-BC665335C855}" type="sibTrans" cxnId="{347C1AD9-76A4-484A-A41B-C3394CF01B37}">
      <dgm:prSet/>
      <dgm:spPr/>
      <dgm:t>
        <a:bodyPr/>
        <a:lstStyle/>
        <a:p>
          <a:endParaRPr lang="en-US"/>
        </a:p>
      </dgm:t>
    </dgm:pt>
    <dgm:pt modelId="{32DB4B09-2F79-4B82-8B22-32E644532A4C}">
      <dgm:prSet/>
      <dgm:spPr/>
      <dgm:t>
        <a:bodyPr/>
        <a:lstStyle/>
        <a:p>
          <a:r>
            <a:rPr lang="en-US"/>
            <a:t>Whole container database</a:t>
          </a:r>
        </a:p>
      </dgm:t>
    </dgm:pt>
    <dgm:pt modelId="{363BCF88-9EEA-4618-B50A-20149C740B20}" type="parTrans" cxnId="{7B997020-CE73-4828-B831-2DF130203A4F}">
      <dgm:prSet/>
      <dgm:spPr/>
      <dgm:t>
        <a:bodyPr/>
        <a:lstStyle/>
        <a:p>
          <a:endParaRPr lang="en-US"/>
        </a:p>
      </dgm:t>
    </dgm:pt>
    <dgm:pt modelId="{360CE50E-B530-483E-A661-E76C6C250AA4}" type="sibTrans" cxnId="{7B997020-CE73-4828-B831-2DF130203A4F}">
      <dgm:prSet/>
      <dgm:spPr/>
      <dgm:t>
        <a:bodyPr/>
        <a:lstStyle/>
        <a:p>
          <a:endParaRPr lang="en-US"/>
        </a:p>
      </dgm:t>
    </dgm:pt>
    <dgm:pt modelId="{0DC330A3-D84A-4522-A731-3BCEF776739F}">
      <dgm:prSet/>
      <dgm:spPr/>
      <dgm:t>
        <a:bodyPr/>
        <a:lstStyle/>
        <a:p>
          <a:r>
            <a:rPr lang="en-US"/>
            <a:t>Root only or individual pluggable database</a:t>
          </a:r>
        </a:p>
      </dgm:t>
    </dgm:pt>
    <dgm:pt modelId="{F64E7A32-BC24-451C-806E-24774FC50576}" type="parTrans" cxnId="{183B1EBD-9F79-476D-8896-8924994D618C}">
      <dgm:prSet/>
      <dgm:spPr/>
      <dgm:t>
        <a:bodyPr/>
        <a:lstStyle/>
        <a:p>
          <a:endParaRPr lang="en-US"/>
        </a:p>
      </dgm:t>
    </dgm:pt>
    <dgm:pt modelId="{FA320053-6959-4DF0-B012-2E52797DC0FF}" type="sibTrans" cxnId="{183B1EBD-9F79-476D-8896-8924994D618C}">
      <dgm:prSet/>
      <dgm:spPr/>
      <dgm:t>
        <a:bodyPr/>
        <a:lstStyle/>
        <a:p>
          <a:endParaRPr lang="en-US"/>
        </a:p>
      </dgm:t>
    </dgm:pt>
    <dgm:pt modelId="{CB872703-0A11-4B18-B4DC-17D7A7DC46AF}" type="pres">
      <dgm:prSet presAssocID="{B6E842F2-B571-4739-ACA7-C2EA98DA3C80}" presName="linear" presStyleCnt="0">
        <dgm:presLayoutVars>
          <dgm:animLvl val="lvl"/>
          <dgm:resizeHandles val="exact"/>
        </dgm:presLayoutVars>
      </dgm:prSet>
      <dgm:spPr/>
    </dgm:pt>
    <dgm:pt modelId="{D0FD8AF3-372D-4E18-B1E6-15089410CB2D}" type="pres">
      <dgm:prSet presAssocID="{782B3728-8E47-432D-9F9F-06B1BC0DD9A8}" presName="parentText" presStyleLbl="node1" presStyleIdx="0" presStyleCnt="4">
        <dgm:presLayoutVars>
          <dgm:chMax val="0"/>
          <dgm:bulletEnabled val="1"/>
        </dgm:presLayoutVars>
      </dgm:prSet>
      <dgm:spPr/>
    </dgm:pt>
    <dgm:pt modelId="{B2D5C5A8-D66D-4785-88E5-0C782130F673}" type="pres">
      <dgm:prSet presAssocID="{4D131FFC-80F5-44D3-B533-C85E2F4970F4}" presName="spacer" presStyleCnt="0"/>
      <dgm:spPr/>
    </dgm:pt>
    <dgm:pt modelId="{1E99E611-2165-4131-8272-5A03D13FA5DA}" type="pres">
      <dgm:prSet presAssocID="{09004907-1B7A-4BF6-8D76-86C19BC6216D}" presName="parentText" presStyleLbl="node1" presStyleIdx="1" presStyleCnt="4">
        <dgm:presLayoutVars>
          <dgm:chMax val="0"/>
          <dgm:bulletEnabled val="1"/>
        </dgm:presLayoutVars>
      </dgm:prSet>
      <dgm:spPr/>
    </dgm:pt>
    <dgm:pt modelId="{BAD2E5DE-E15C-43C7-8E39-A02F30626132}" type="pres">
      <dgm:prSet presAssocID="{047D8925-71EF-4EAD-AEE6-BC665335C855}" presName="spacer" presStyleCnt="0"/>
      <dgm:spPr/>
    </dgm:pt>
    <dgm:pt modelId="{54347A40-7483-4024-B65D-2BC6A286C145}" type="pres">
      <dgm:prSet presAssocID="{32DB4B09-2F79-4B82-8B22-32E644532A4C}" presName="parentText" presStyleLbl="node1" presStyleIdx="2" presStyleCnt="4">
        <dgm:presLayoutVars>
          <dgm:chMax val="0"/>
          <dgm:bulletEnabled val="1"/>
        </dgm:presLayoutVars>
      </dgm:prSet>
      <dgm:spPr/>
    </dgm:pt>
    <dgm:pt modelId="{6F033699-BF9F-4518-828D-A18B909D788D}" type="pres">
      <dgm:prSet presAssocID="{360CE50E-B530-483E-A661-E76C6C250AA4}" presName="spacer" presStyleCnt="0"/>
      <dgm:spPr/>
    </dgm:pt>
    <dgm:pt modelId="{40617397-E48A-4E30-8CCA-2608FE197718}" type="pres">
      <dgm:prSet presAssocID="{0DC330A3-D84A-4522-A731-3BCEF776739F}" presName="parentText" presStyleLbl="node1" presStyleIdx="3" presStyleCnt="4">
        <dgm:presLayoutVars>
          <dgm:chMax val="0"/>
          <dgm:bulletEnabled val="1"/>
        </dgm:presLayoutVars>
      </dgm:prSet>
      <dgm:spPr/>
    </dgm:pt>
  </dgm:ptLst>
  <dgm:cxnLst>
    <dgm:cxn modelId="{7B997020-CE73-4828-B831-2DF130203A4F}" srcId="{B6E842F2-B571-4739-ACA7-C2EA98DA3C80}" destId="{32DB4B09-2F79-4B82-8B22-32E644532A4C}" srcOrd="2" destOrd="0" parTransId="{363BCF88-9EEA-4618-B50A-20149C740B20}" sibTransId="{360CE50E-B530-483E-A661-E76C6C250AA4}"/>
    <dgm:cxn modelId="{6E940B34-CC7D-4DD1-B376-9497B6D76ED5}" type="presOf" srcId="{0DC330A3-D84A-4522-A731-3BCEF776739F}" destId="{40617397-E48A-4E30-8CCA-2608FE197718}" srcOrd="0" destOrd="0" presId="urn:microsoft.com/office/officeart/2005/8/layout/vList2"/>
    <dgm:cxn modelId="{EBCE0C55-EF31-4739-A7FD-F873F9A7CEDA}" type="presOf" srcId="{32DB4B09-2F79-4B82-8B22-32E644532A4C}" destId="{54347A40-7483-4024-B65D-2BC6A286C145}" srcOrd="0" destOrd="0" presId="urn:microsoft.com/office/officeart/2005/8/layout/vList2"/>
    <dgm:cxn modelId="{183B1EBD-9F79-476D-8896-8924994D618C}" srcId="{B6E842F2-B571-4739-ACA7-C2EA98DA3C80}" destId="{0DC330A3-D84A-4522-A731-3BCEF776739F}" srcOrd="3" destOrd="0" parTransId="{F64E7A32-BC24-451C-806E-24774FC50576}" sibTransId="{FA320053-6959-4DF0-B012-2E52797DC0FF}"/>
    <dgm:cxn modelId="{347C1AD9-76A4-484A-A41B-C3394CF01B37}" srcId="{B6E842F2-B571-4739-ACA7-C2EA98DA3C80}" destId="{09004907-1B7A-4BF6-8D76-86C19BC6216D}" srcOrd="1" destOrd="0" parTransId="{CBE143B4-277E-4899-B621-F748DDE8816B}" sibTransId="{047D8925-71EF-4EAD-AEE6-BC665335C855}"/>
    <dgm:cxn modelId="{47F9CDD9-14C9-4F80-8089-04018521B1D3}" srcId="{B6E842F2-B571-4739-ACA7-C2EA98DA3C80}" destId="{782B3728-8E47-432D-9F9F-06B1BC0DD9A8}" srcOrd="0" destOrd="0" parTransId="{6CDE0E57-CE18-45D9-B9B7-9959D94D706D}" sibTransId="{4D131FFC-80F5-44D3-B533-C85E2F4970F4}"/>
    <dgm:cxn modelId="{37126DDB-DB37-4D92-AAC9-D9AEE1B5EE7C}" type="presOf" srcId="{B6E842F2-B571-4739-ACA7-C2EA98DA3C80}" destId="{CB872703-0A11-4B18-B4DC-17D7A7DC46AF}" srcOrd="0" destOrd="0" presId="urn:microsoft.com/office/officeart/2005/8/layout/vList2"/>
    <dgm:cxn modelId="{92D87DF6-725A-422B-BF7F-51D8C492628C}" type="presOf" srcId="{782B3728-8E47-432D-9F9F-06B1BC0DD9A8}" destId="{D0FD8AF3-372D-4E18-B1E6-15089410CB2D}" srcOrd="0" destOrd="0" presId="urn:microsoft.com/office/officeart/2005/8/layout/vList2"/>
    <dgm:cxn modelId="{57D6E6FB-0D9C-49F5-BB95-C52D4D0015F2}" type="presOf" srcId="{09004907-1B7A-4BF6-8D76-86C19BC6216D}" destId="{1E99E611-2165-4131-8272-5A03D13FA5DA}" srcOrd="0" destOrd="0" presId="urn:microsoft.com/office/officeart/2005/8/layout/vList2"/>
    <dgm:cxn modelId="{C32C749F-1D96-496D-BA17-D5067B5D9827}" type="presParOf" srcId="{CB872703-0A11-4B18-B4DC-17D7A7DC46AF}" destId="{D0FD8AF3-372D-4E18-B1E6-15089410CB2D}" srcOrd="0" destOrd="0" presId="urn:microsoft.com/office/officeart/2005/8/layout/vList2"/>
    <dgm:cxn modelId="{4F5929DD-EBCF-47AB-A1E4-6A5C7D99AAC4}" type="presParOf" srcId="{CB872703-0A11-4B18-B4DC-17D7A7DC46AF}" destId="{B2D5C5A8-D66D-4785-88E5-0C782130F673}" srcOrd="1" destOrd="0" presId="urn:microsoft.com/office/officeart/2005/8/layout/vList2"/>
    <dgm:cxn modelId="{00585B8A-A371-477D-ABA7-39BFD164D9FA}" type="presParOf" srcId="{CB872703-0A11-4B18-B4DC-17D7A7DC46AF}" destId="{1E99E611-2165-4131-8272-5A03D13FA5DA}" srcOrd="2" destOrd="0" presId="urn:microsoft.com/office/officeart/2005/8/layout/vList2"/>
    <dgm:cxn modelId="{A582C081-273D-4FC4-8282-DC7524146751}" type="presParOf" srcId="{CB872703-0A11-4B18-B4DC-17D7A7DC46AF}" destId="{BAD2E5DE-E15C-43C7-8E39-A02F30626132}" srcOrd="3" destOrd="0" presId="urn:microsoft.com/office/officeart/2005/8/layout/vList2"/>
    <dgm:cxn modelId="{C47A01FA-C521-465B-ABF5-5FFCE72A5DF9}" type="presParOf" srcId="{CB872703-0A11-4B18-B4DC-17D7A7DC46AF}" destId="{54347A40-7483-4024-B65D-2BC6A286C145}" srcOrd="4" destOrd="0" presId="urn:microsoft.com/office/officeart/2005/8/layout/vList2"/>
    <dgm:cxn modelId="{17EDC10B-6635-4CEA-8500-0E4845122D69}" type="presParOf" srcId="{CB872703-0A11-4B18-B4DC-17D7A7DC46AF}" destId="{6F033699-BF9F-4518-828D-A18B909D788D}" srcOrd="5" destOrd="0" presId="urn:microsoft.com/office/officeart/2005/8/layout/vList2"/>
    <dgm:cxn modelId="{DEB35537-5516-40C4-9B3C-402B8180A49E}" type="presParOf" srcId="{CB872703-0A11-4B18-B4DC-17D7A7DC46AF}" destId="{40617397-E48A-4E30-8CCA-2608FE19771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B9E38E-BB9C-4090-A89D-0B164B86B0E3}">
      <dsp:nvSpPr>
        <dsp:cNvPr id="0" name=""/>
        <dsp:cNvSpPr/>
      </dsp:nvSpPr>
      <dsp:spPr>
        <a:xfrm>
          <a:off x="1762485" y="499315"/>
          <a:ext cx="1908562" cy="190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47057C-8498-4883-9F5B-CFEE44529E1C}">
      <dsp:nvSpPr>
        <dsp:cNvPr id="0" name=""/>
        <dsp:cNvSpPr/>
      </dsp:nvSpPr>
      <dsp:spPr>
        <a:xfrm>
          <a:off x="290199" y="2963888"/>
          <a:ext cx="4853135" cy="1242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1" kern="1200" dirty="0"/>
            <a:t>Restore:</a:t>
          </a:r>
          <a:r>
            <a:rPr lang="en-US" sz="1600" kern="1200" dirty="0"/>
            <a:t> It is the act that involves the restoration of all files that will be required to recover your database to a consistent state, for example, copying all backup files from a secondary location such as tape or storage to your stage area</a:t>
          </a:r>
        </a:p>
      </dsp:txBody>
      <dsp:txXfrm>
        <a:off x="290199" y="2963888"/>
        <a:ext cx="4853135" cy="1242146"/>
      </dsp:txXfrm>
    </dsp:sp>
    <dsp:sp modelId="{F372A410-697D-4435-9977-05596B84CBCA}">
      <dsp:nvSpPr>
        <dsp:cNvPr id="0" name=""/>
        <dsp:cNvSpPr/>
      </dsp:nvSpPr>
      <dsp:spPr>
        <a:xfrm>
          <a:off x="7563158" y="499315"/>
          <a:ext cx="1908562" cy="190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6EC4FC-F849-4F07-9324-E6C6349C86E7}">
      <dsp:nvSpPr>
        <dsp:cNvPr id="0" name=""/>
        <dsp:cNvSpPr/>
      </dsp:nvSpPr>
      <dsp:spPr>
        <a:xfrm>
          <a:off x="5828423" y="3031796"/>
          <a:ext cx="5263772" cy="12421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1" kern="1200" dirty="0"/>
            <a:t>Recovery:</a:t>
          </a:r>
          <a:r>
            <a:rPr lang="en-US" sz="1600" b="1" kern="1200" dirty="0"/>
            <a:t> </a:t>
          </a:r>
          <a:r>
            <a:rPr lang="en-US" sz="1600" kern="1200" dirty="0"/>
            <a:t>It is the process to apply all transactions recorded in your archive logs, rolling your database forward to a point-in-time or until the last transaction recorded is </a:t>
          </a:r>
          <a:r>
            <a:rPr lang="en-US" sz="1800" kern="1200" dirty="0"/>
            <a:t>applied</a:t>
          </a:r>
          <a:r>
            <a:rPr lang="en-US" sz="1600" kern="1200" dirty="0"/>
            <a:t>, thus recovering your database to the point-in-time you need</a:t>
          </a:r>
        </a:p>
      </dsp:txBody>
      <dsp:txXfrm>
        <a:off x="5828423" y="3031796"/>
        <a:ext cx="5263772" cy="12421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20EB62-E91C-46B8-B7E0-9B1A64B4E827}">
      <dsp:nvSpPr>
        <dsp:cNvPr id="0" name=""/>
        <dsp:cNvSpPr/>
      </dsp:nvSpPr>
      <dsp:spPr>
        <a:xfrm>
          <a:off x="1263" y="9315"/>
          <a:ext cx="4436205" cy="2816990"/>
        </a:xfrm>
        <a:prstGeom prst="roundRect">
          <a:avLst>
            <a:gd name="adj" fmla="val 10000"/>
          </a:avLst>
        </a:prstGeom>
        <a:gradFill rotWithShape="0">
          <a:gsLst>
            <a:gs pos="0">
              <a:schemeClr val="dk2">
                <a:hueOff val="0"/>
                <a:satOff val="0"/>
                <a:lumOff val="0"/>
                <a:alphaOff val="0"/>
                <a:tint val="94000"/>
                <a:satMod val="100000"/>
                <a:lumMod val="104000"/>
              </a:schemeClr>
            </a:gs>
            <a:gs pos="69000">
              <a:schemeClr val="dk2">
                <a:hueOff val="0"/>
                <a:satOff val="0"/>
                <a:lumOff val="0"/>
                <a:alphaOff val="0"/>
                <a:shade val="86000"/>
                <a:satMod val="130000"/>
                <a:lumMod val="102000"/>
              </a:schemeClr>
            </a:gs>
            <a:gs pos="100000">
              <a:schemeClr val="dk2">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sp>
    <dsp:sp modelId="{771ED4C9-B89A-4FF9-9DB2-EFA3F08E5516}">
      <dsp:nvSpPr>
        <dsp:cNvPr id="0" name=""/>
        <dsp:cNvSpPr/>
      </dsp:nvSpPr>
      <dsp:spPr>
        <a:xfrm>
          <a:off x="494175" y="477581"/>
          <a:ext cx="4436205" cy="2816990"/>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When your database is created by default, it will be created using the </a:t>
          </a:r>
          <a:r>
            <a:rPr lang="en-US" sz="1700" b="1" kern="1200"/>
            <a:t>NOARCHIVELOG </a:t>
          </a:r>
          <a:r>
            <a:rPr lang="en-US" sz="1700" kern="1200"/>
            <a:t>mode. This mode permits any normal database operations but will not provide your database with the capability to perform any point-in-time recovery operations or online backups of your database.</a:t>
          </a:r>
        </a:p>
      </dsp:txBody>
      <dsp:txXfrm>
        <a:off x="576682" y="560088"/>
        <a:ext cx="4271191" cy="2651976"/>
      </dsp:txXfrm>
    </dsp:sp>
    <dsp:sp modelId="{70412E99-93E5-4AFC-AC37-8E201E56BF4E}">
      <dsp:nvSpPr>
        <dsp:cNvPr id="0" name=""/>
        <dsp:cNvSpPr/>
      </dsp:nvSpPr>
      <dsp:spPr>
        <a:xfrm>
          <a:off x="5423293" y="9315"/>
          <a:ext cx="4436205" cy="2816990"/>
        </a:xfrm>
        <a:prstGeom prst="roundRect">
          <a:avLst>
            <a:gd name="adj" fmla="val 10000"/>
          </a:avLst>
        </a:prstGeom>
        <a:gradFill rotWithShape="0">
          <a:gsLst>
            <a:gs pos="0">
              <a:schemeClr val="dk2">
                <a:hueOff val="0"/>
                <a:satOff val="0"/>
                <a:lumOff val="0"/>
                <a:alphaOff val="0"/>
                <a:tint val="94000"/>
                <a:satMod val="100000"/>
                <a:lumMod val="104000"/>
              </a:schemeClr>
            </a:gs>
            <a:gs pos="69000">
              <a:schemeClr val="dk2">
                <a:hueOff val="0"/>
                <a:satOff val="0"/>
                <a:lumOff val="0"/>
                <a:alphaOff val="0"/>
                <a:shade val="86000"/>
                <a:satMod val="130000"/>
                <a:lumMod val="102000"/>
              </a:schemeClr>
            </a:gs>
            <a:gs pos="100000">
              <a:schemeClr val="dk2">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sp>
    <dsp:sp modelId="{824D2823-2B2C-45D1-9F94-2CB20C5F9DF2}">
      <dsp:nvSpPr>
        <dsp:cNvPr id="0" name=""/>
        <dsp:cNvSpPr/>
      </dsp:nvSpPr>
      <dsp:spPr>
        <a:xfrm>
          <a:off x="5916205" y="477581"/>
          <a:ext cx="4436205" cy="2816990"/>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When the database is using this mode, </a:t>
          </a:r>
          <a:r>
            <a:rPr lang="en-US" sz="1700" b="1" kern="1200"/>
            <a:t>no hot backup is possible </a:t>
          </a:r>
          <a:r>
            <a:rPr lang="en-US" sz="1700" kern="1200"/>
            <a:t>(hot backup is any backup done with the database open, causing no interruption for the users). You will only be able to perform backups with your </a:t>
          </a:r>
          <a:r>
            <a:rPr lang="en-US" sz="1700" b="1" kern="1200"/>
            <a:t>database down </a:t>
          </a:r>
          <a:r>
            <a:rPr lang="en-US" sz="1700" kern="1200"/>
            <a:t>(shutdown, also known as the </a:t>
          </a:r>
          <a:r>
            <a:rPr lang="en-US" sz="1700" b="1" kern="1200"/>
            <a:t>offline backup or the cold backup</a:t>
          </a:r>
          <a:r>
            <a:rPr lang="en-US" sz="1700" kern="1200"/>
            <a:t>), and you will only be able to perform a full recovery up to the point that your backup was made</a:t>
          </a:r>
        </a:p>
      </dsp:txBody>
      <dsp:txXfrm>
        <a:off x="5998712" y="560088"/>
        <a:ext cx="4271191" cy="26519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FD8AF3-372D-4E18-B1E6-15089410CB2D}">
      <dsp:nvSpPr>
        <dsp:cNvPr id="0" name=""/>
        <dsp:cNvSpPr/>
      </dsp:nvSpPr>
      <dsp:spPr>
        <a:xfrm>
          <a:off x="0" y="7247"/>
          <a:ext cx="10353761" cy="842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Hot backup of a whole database</a:t>
          </a:r>
        </a:p>
      </dsp:txBody>
      <dsp:txXfrm>
        <a:off x="41123" y="48370"/>
        <a:ext cx="10271515" cy="760154"/>
      </dsp:txXfrm>
    </dsp:sp>
    <dsp:sp modelId="{1E99E611-2165-4131-8272-5A03D13FA5DA}">
      <dsp:nvSpPr>
        <dsp:cNvPr id="0" name=""/>
        <dsp:cNvSpPr/>
      </dsp:nvSpPr>
      <dsp:spPr>
        <a:xfrm>
          <a:off x="0" y="953328"/>
          <a:ext cx="10353761" cy="842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Hot backup of tablespaces</a:t>
          </a:r>
        </a:p>
      </dsp:txBody>
      <dsp:txXfrm>
        <a:off x="41123" y="994451"/>
        <a:ext cx="10271515" cy="760154"/>
      </dsp:txXfrm>
    </dsp:sp>
    <dsp:sp modelId="{54347A40-7483-4024-B65D-2BC6A286C145}">
      <dsp:nvSpPr>
        <dsp:cNvPr id="0" name=""/>
        <dsp:cNvSpPr/>
      </dsp:nvSpPr>
      <dsp:spPr>
        <a:xfrm>
          <a:off x="0" y="1899408"/>
          <a:ext cx="10353761" cy="842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Whole container database</a:t>
          </a:r>
        </a:p>
      </dsp:txBody>
      <dsp:txXfrm>
        <a:off x="41123" y="1940531"/>
        <a:ext cx="10271515" cy="760154"/>
      </dsp:txXfrm>
    </dsp:sp>
    <dsp:sp modelId="{40617397-E48A-4E30-8CCA-2608FE197718}">
      <dsp:nvSpPr>
        <dsp:cNvPr id="0" name=""/>
        <dsp:cNvSpPr/>
      </dsp:nvSpPr>
      <dsp:spPr>
        <a:xfrm>
          <a:off x="0" y="2845488"/>
          <a:ext cx="10353761" cy="842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t>Root only or individual pluggable database</a:t>
          </a:r>
        </a:p>
      </dsp:txBody>
      <dsp:txXfrm>
        <a:off x="41123" y="2886611"/>
        <a:ext cx="10271515" cy="76015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6/29/2021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46368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6/29/2021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77245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6/29/2021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3208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6/29/2021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6934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6/29/2021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2098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6/29/2021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6735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6/29/2021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766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6/29/2021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7245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6/29/2021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38505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6/29/2021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1397255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6/29/2021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49485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6/29/2021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8599071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6/29/2021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699199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6/29/2021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26483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6/29/2021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5122417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6/29/2021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4217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6/29/2021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9966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9B482E8-6E0E-1B4F-B1FD-C69DB9E858D9}" type="datetimeFigureOut">
              <a:rPr lang="en-US" smtClean="0"/>
              <a:pPr/>
              <a:t>6/29/2021</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918996"/>
      </p:ext>
    </p:extLst>
  </p:cSld>
  <p:clrMap bg1="dk1" tx1="lt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70068059-9097-4F05-BA38-CDD7DBF77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9">
            <a:extLst>
              <a:ext uri="{FF2B5EF4-FFF2-40B4-BE49-F238E27FC236}">
                <a16:creationId xmlns:a16="http://schemas.microsoft.com/office/drawing/2014/main" id="{E164A015-EDB3-4688-8B77-925530541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51035"/>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803165-E357-4A5B-9B71-4B71AC2C097B}"/>
              </a:ext>
            </a:extLst>
          </p:cNvPr>
          <p:cNvSpPr>
            <a:spLocks noGrp="1"/>
          </p:cNvSpPr>
          <p:nvPr>
            <p:ph type="ctrTitle"/>
          </p:nvPr>
        </p:nvSpPr>
        <p:spPr>
          <a:xfrm>
            <a:off x="913794" y="643467"/>
            <a:ext cx="11059131" cy="3585834"/>
          </a:xfrm>
        </p:spPr>
        <p:txBody>
          <a:bodyPr>
            <a:normAutofit/>
          </a:bodyPr>
          <a:lstStyle/>
          <a:p>
            <a:pPr algn="l"/>
            <a:r>
              <a:rPr lang="en-US" sz="7200" dirty="0"/>
              <a:t>BACKUP AND RECOVERY CONCEPTS</a:t>
            </a:r>
          </a:p>
        </p:txBody>
      </p:sp>
      <p:sp>
        <p:nvSpPr>
          <p:cNvPr id="3" name="Subtitle 2">
            <a:extLst>
              <a:ext uri="{FF2B5EF4-FFF2-40B4-BE49-F238E27FC236}">
                <a16:creationId xmlns:a16="http://schemas.microsoft.com/office/drawing/2014/main" id="{C9B55EC4-C9AF-40BE-BE6F-CF5C67ECCDF5}"/>
              </a:ext>
            </a:extLst>
          </p:cNvPr>
          <p:cNvSpPr>
            <a:spLocks noGrp="1"/>
          </p:cNvSpPr>
          <p:nvPr>
            <p:ph type="subTitle" idx="1"/>
          </p:nvPr>
        </p:nvSpPr>
        <p:spPr>
          <a:xfrm>
            <a:off x="913794" y="4872767"/>
            <a:ext cx="9600217" cy="1424165"/>
          </a:xfrm>
        </p:spPr>
        <p:txBody>
          <a:bodyPr>
            <a:normAutofit/>
          </a:bodyPr>
          <a:lstStyle/>
          <a:p>
            <a:pPr algn="l"/>
            <a:r>
              <a:rPr lang="en-US" sz="3200" b="1" dirty="0"/>
              <a:t>ORACLE DBA ONLINE TRAINING</a:t>
            </a:r>
          </a:p>
        </p:txBody>
      </p:sp>
    </p:spTree>
    <p:extLst>
      <p:ext uri="{BB962C8B-B14F-4D97-AF65-F5344CB8AC3E}">
        <p14:creationId xmlns:p14="http://schemas.microsoft.com/office/powerpoint/2010/main" val="302474066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2"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3"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4"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BFC2DC-A410-451A-B6CB-742DA9B2DD92}"/>
              </a:ext>
            </a:extLst>
          </p:cNvPr>
          <p:cNvSpPr>
            <a:spLocks noGrp="1"/>
          </p:cNvSpPr>
          <p:nvPr>
            <p:ph type="title"/>
          </p:nvPr>
        </p:nvSpPr>
        <p:spPr>
          <a:xfrm>
            <a:off x="913796" y="927100"/>
            <a:ext cx="3418766" cy="4616450"/>
          </a:xfrm>
        </p:spPr>
        <p:txBody>
          <a:bodyPr>
            <a:normAutofit/>
          </a:bodyPr>
          <a:lstStyle/>
          <a:p>
            <a:r>
              <a:rPr lang="en-US" dirty="0"/>
              <a:t>Basics of Backup and Recovery</a:t>
            </a:r>
          </a:p>
        </p:txBody>
      </p:sp>
      <p:cxnSp>
        <p:nvCxnSpPr>
          <p:cNvPr id="17" name="Straight Connector 16">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E428CE12-CB5B-4DE5-A486-ADF4FD2165A5}"/>
              </a:ext>
            </a:extLst>
          </p:cNvPr>
          <p:cNvSpPr>
            <a:spLocks noGrp="1"/>
          </p:cNvSpPr>
          <p:nvPr>
            <p:ph idx="1"/>
          </p:nvPr>
        </p:nvSpPr>
        <p:spPr>
          <a:xfrm>
            <a:off x="4886602" y="695325"/>
            <a:ext cx="7057746" cy="6477000"/>
          </a:xfrm>
        </p:spPr>
        <p:txBody>
          <a:bodyPr anchor="ctr">
            <a:normAutofit fontScale="92500" lnSpcReduction="20000"/>
          </a:bodyPr>
          <a:lstStyle/>
          <a:p>
            <a:pPr>
              <a:lnSpc>
                <a:spcPct val="110000"/>
              </a:lnSpc>
            </a:pPr>
            <a:r>
              <a:rPr lang="en-US" sz="1400" dirty="0"/>
              <a:t>As a DBA, you are the person responsible for recovering the data and guarding the business continuity of your organization</a:t>
            </a:r>
          </a:p>
          <a:p>
            <a:pPr>
              <a:lnSpc>
                <a:spcPct val="110000"/>
              </a:lnSpc>
            </a:pPr>
            <a:r>
              <a:rPr lang="en-US" sz="1400" dirty="0"/>
              <a:t>DBA have the key responsibility for developing, deploying, and managing an efficient backup and recovery strategy for your institution or clients that will allow them to easily recover from any possible disastrous situation.</a:t>
            </a:r>
          </a:p>
          <a:p>
            <a:pPr>
              <a:lnSpc>
                <a:spcPct val="110000"/>
              </a:lnSpc>
            </a:pPr>
            <a:r>
              <a:rPr lang="en-US" sz="1400" dirty="0"/>
              <a:t>Main purpose of taking backup is to protect data to avoid below mentioned situations:</a:t>
            </a:r>
          </a:p>
          <a:p>
            <a:pPr marL="0" indent="0">
              <a:lnSpc>
                <a:spcPct val="110000"/>
              </a:lnSpc>
              <a:buNone/>
            </a:pPr>
            <a:endParaRPr lang="en-US" sz="1400" dirty="0"/>
          </a:p>
          <a:p>
            <a:pPr marL="342900" indent="-342900">
              <a:lnSpc>
                <a:spcPct val="110000"/>
              </a:lnSpc>
              <a:buFont typeface="+mj-lt"/>
              <a:buAutoNum type="alphaUcPeriod"/>
            </a:pPr>
            <a:r>
              <a:rPr lang="en-US" sz="1600" b="1" dirty="0">
                <a:solidFill>
                  <a:srgbClr val="FFFF00"/>
                </a:solidFill>
              </a:rPr>
              <a:t>Media failure:  </a:t>
            </a:r>
          </a:p>
          <a:p>
            <a:pPr>
              <a:lnSpc>
                <a:spcPct val="110000"/>
              </a:lnSpc>
            </a:pPr>
            <a:r>
              <a:rPr lang="en-US" sz="1400" dirty="0"/>
              <a:t>Media failure occurs when a system is unable to write or read from a physical storage device</a:t>
            </a:r>
          </a:p>
          <a:p>
            <a:pPr marL="342900" indent="-342900">
              <a:lnSpc>
                <a:spcPct val="110000"/>
              </a:lnSpc>
              <a:buFont typeface="+mj-lt"/>
              <a:buAutoNum type="alphaUcPeriod" startAt="2"/>
            </a:pPr>
            <a:r>
              <a:rPr lang="en-US" sz="1600" b="1" dirty="0">
                <a:solidFill>
                  <a:srgbClr val="FFFF00"/>
                </a:solidFill>
              </a:rPr>
              <a:t>Hardware failure</a:t>
            </a:r>
            <a:r>
              <a:rPr lang="en-US" sz="1400" dirty="0">
                <a:solidFill>
                  <a:srgbClr val="FFFF00"/>
                </a:solidFill>
              </a:rPr>
              <a:t>: </a:t>
            </a:r>
          </a:p>
          <a:p>
            <a:pPr>
              <a:lnSpc>
                <a:spcPct val="110000"/>
              </a:lnSpc>
            </a:pPr>
            <a:r>
              <a:rPr lang="en-US" sz="1400" dirty="0"/>
              <a:t>Hardware failure is when a failure occurs on a physical component of your hardware such as when your server motherboard, CPU, or any other component stops working</a:t>
            </a:r>
          </a:p>
          <a:p>
            <a:pPr marL="342900" indent="-342900">
              <a:lnSpc>
                <a:spcPct val="110000"/>
              </a:lnSpc>
              <a:buFont typeface="+mj-lt"/>
              <a:buAutoNum type="alphaUcPeriod" startAt="3"/>
            </a:pPr>
            <a:r>
              <a:rPr lang="en-US" sz="1600" b="1" dirty="0">
                <a:solidFill>
                  <a:srgbClr val="FFFF00"/>
                </a:solidFill>
              </a:rPr>
              <a:t>Human error: </a:t>
            </a:r>
          </a:p>
          <a:p>
            <a:pPr>
              <a:lnSpc>
                <a:spcPct val="110000"/>
              </a:lnSpc>
            </a:pPr>
            <a:r>
              <a:rPr lang="en-US" sz="1400" dirty="0"/>
              <a:t>Human error, also known as user error, is when a user interacting directly or through an application causes damage to the data stored in the database or to the database itself. The most frequent examples of human error involve changing or deleting data and even files by mistake. It is likely that this kind of error is the greatest single cause of database downtime in a company</a:t>
            </a:r>
          </a:p>
          <a:p>
            <a:pPr marL="342900" indent="-342900">
              <a:lnSpc>
                <a:spcPct val="110000"/>
              </a:lnSpc>
              <a:buFont typeface="+mj-lt"/>
              <a:buAutoNum type="alphaUcPeriod" startAt="4"/>
            </a:pPr>
            <a:r>
              <a:rPr lang="en-US" sz="1600" b="1" dirty="0">
                <a:solidFill>
                  <a:srgbClr val="FFFF00"/>
                </a:solidFill>
              </a:rPr>
              <a:t>Application error:</a:t>
            </a:r>
          </a:p>
          <a:p>
            <a:pPr>
              <a:lnSpc>
                <a:spcPct val="110000"/>
              </a:lnSpc>
            </a:pPr>
            <a:r>
              <a:rPr lang="en-US" sz="1400" dirty="0"/>
              <a:t>An application error happens when a software malfunction causes data corruption in the logical or physical levels. A bug in the code can easily damage data or even corrupt a data block. This kind of problem can be solved using Oracle block media recovery and is why it is so important to have a proper test done prior to promoting an application change to any production environment.</a:t>
            </a:r>
          </a:p>
          <a:p>
            <a:pPr>
              <a:lnSpc>
                <a:spcPct val="110000"/>
              </a:lnSpc>
            </a:pPr>
            <a:endParaRPr lang="en-US" sz="1400" dirty="0"/>
          </a:p>
          <a:p>
            <a:pPr>
              <a:lnSpc>
                <a:spcPct val="110000"/>
              </a:lnSpc>
            </a:pPr>
            <a:endParaRPr lang="en-US" sz="1400" dirty="0"/>
          </a:p>
          <a:p>
            <a:pPr>
              <a:lnSpc>
                <a:spcPct val="110000"/>
              </a:lnSpc>
            </a:pPr>
            <a:endParaRPr lang="en-US" sz="1400" dirty="0"/>
          </a:p>
          <a:p>
            <a:pPr>
              <a:lnSpc>
                <a:spcPct val="110000"/>
              </a:lnSpc>
            </a:pPr>
            <a:endParaRPr lang="en-US" sz="1400" dirty="0"/>
          </a:p>
        </p:txBody>
      </p:sp>
    </p:spTree>
    <p:extLst>
      <p:ext uri="{BB962C8B-B14F-4D97-AF65-F5344CB8AC3E}">
        <p14:creationId xmlns:p14="http://schemas.microsoft.com/office/powerpoint/2010/main" val="275766026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animEffect transition="in" filter="fade">
                                      <p:cBhvr>
                                        <p:cTn id="15" dur="500"/>
                                        <p:tgtEl>
                                          <p:spTgt spid="2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2">
                                            <p:txEl>
                                              <p:pRg st="4" end="4"/>
                                            </p:txEl>
                                          </p:spTgt>
                                        </p:tgtEl>
                                        <p:attrNameLst>
                                          <p:attrName>style.visibility</p:attrName>
                                        </p:attrNameLst>
                                      </p:cBhvr>
                                      <p:to>
                                        <p:strVal val="visible"/>
                                      </p:to>
                                    </p:set>
                                    <p:animEffect transition="in" filter="wipe(down)">
                                      <p:cBhvr>
                                        <p:cTn id="20" dur="500"/>
                                        <p:tgtEl>
                                          <p:spTgt spid="22">
                                            <p:txEl>
                                              <p:pRg st="4" end="4"/>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22">
                                            <p:txEl>
                                              <p:pRg st="5" end="5"/>
                                            </p:txEl>
                                          </p:spTgt>
                                        </p:tgtEl>
                                        <p:attrNameLst>
                                          <p:attrName>style.visibility</p:attrName>
                                        </p:attrNameLst>
                                      </p:cBhvr>
                                      <p:to>
                                        <p:strVal val="visible"/>
                                      </p:to>
                                    </p:set>
                                    <p:animEffect transition="in" filter="wipe(down)">
                                      <p:cBhvr>
                                        <p:cTn id="23" dur="500"/>
                                        <p:tgtEl>
                                          <p:spTgt spid="22">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2">
                                            <p:txEl>
                                              <p:pRg st="6" end="6"/>
                                            </p:txEl>
                                          </p:spTgt>
                                        </p:tgtEl>
                                        <p:attrNameLst>
                                          <p:attrName>style.visibility</p:attrName>
                                        </p:attrNameLst>
                                      </p:cBhvr>
                                      <p:to>
                                        <p:strVal val="visible"/>
                                      </p:to>
                                    </p:set>
                                    <p:animEffect transition="in" filter="wipe(down)">
                                      <p:cBhvr>
                                        <p:cTn id="28" dur="500"/>
                                        <p:tgtEl>
                                          <p:spTgt spid="22">
                                            <p:txEl>
                                              <p:pRg st="6" end="6"/>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22">
                                            <p:txEl>
                                              <p:pRg st="7" end="7"/>
                                            </p:txEl>
                                          </p:spTgt>
                                        </p:tgtEl>
                                        <p:attrNameLst>
                                          <p:attrName>style.visibility</p:attrName>
                                        </p:attrNameLst>
                                      </p:cBhvr>
                                      <p:to>
                                        <p:strVal val="visible"/>
                                      </p:to>
                                    </p:set>
                                    <p:animEffect transition="in" filter="wipe(down)">
                                      <p:cBhvr>
                                        <p:cTn id="31" dur="500"/>
                                        <p:tgtEl>
                                          <p:spTgt spid="2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2">
                                            <p:txEl>
                                              <p:pRg st="8" end="8"/>
                                            </p:txEl>
                                          </p:spTgt>
                                        </p:tgtEl>
                                        <p:attrNameLst>
                                          <p:attrName>style.visibility</p:attrName>
                                        </p:attrNameLst>
                                      </p:cBhvr>
                                      <p:to>
                                        <p:strVal val="visible"/>
                                      </p:to>
                                    </p:set>
                                    <p:anim calcmode="lin" valueType="num">
                                      <p:cBhvr additive="base">
                                        <p:cTn id="36" dur="500" fill="hold"/>
                                        <p:tgtEl>
                                          <p:spTgt spid="22">
                                            <p:txEl>
                                              <p:pRg st="8" end="8"/>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2">
                                            <p:txEl>
                                              <p:pRg st="8" end="8"/>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2">
                                            <p:txEl>
                                              <p:pRg st="9" end="9"/>
                                            </p:txEl>
                                          </p:spTgt>
                                        </p:tgtEl>
                                        <p:attrNameLst>
                                          <p:attrName>style.visibility</p:attrName>
                                        </p:attrNameLst>
                                      </p:cBhvr>
                                      <p:to>
                                        <p:strVal val="visible"/>
                                      </p:to>
                                    </p:set>
                                    <p:anim calcmode="lin" valueType="num">
                                      <p:cBhvr additive="base">
                                        <p:cTn id="40" dur="500" fill="hold"/>
                                        <p:tgtEl>
                                          <p:spTgt spid="22">
                                            <p:txEl>
                                              <p:pRg st="9" end="9"/>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22">
                                            <p:txEl>
                                              <p:pRg st="10" end="10"/>
                                            </p:txEl>
                                          </p:spTgt>
                                        </p:tgtEl>
                                        <p:attrNameLst>
                                          <p:attrName>style.visibility</p:attrName>
                                        </p:attrNameLst>
                                      </p:cBhvr>
                                      <p:to>
                                        <p:strVal val="visible"/>
                                      </p:to>
                                    </p:set>
                                    <p:anim calcmode="lin" valueType="num">
                                      <p:cBhvr additive="base">
                                        <p:cTn id="46" dur="500" fill="hold"/>
                                        <p:tgtEl>
                                          <p:spTgt spid="22">
                                            <p:txEl>
                                              <p:pRg st="10" end="1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2">
                                            <p:txEl>
                                              <p:pRg st="10" end="10"/>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22">
                                            <p:txEl>
                                              <p:pRg st="11" end="11"/>
                                            </p:txEl>
                                          </p:spTgt>
                                        </p:tgtEl>
                                        <p:attrNameLst>
                                          <p:attrName>style.visibility</p:attrName>
                                        </p:attrNameLst>
                                      </p:cBhvr>
                                      <p:to>
                                        <p:strVal val="visible"/>
                                      </p:to>
                                    </p:set>
                                    <p:anim calcmode="lin" valueType="num">
                                      <p:cBhvr additive="base">
                                        <p:cTn id="50" dur="500" fill="hold"/>
                                        <p:tgtEl>
                                          <p:spTgt spid="22">
                                            <p:txEl>
                                              <p:pRg st="11" end="11"/>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D2A2F-0E39-4639-BABF-44767FD3443F}"/>
              </a:ext>
            </a:extLst>
          </p:cNvPr>
          <p:cNvSpPr>
            <a:spLocks noGrp="1"/>
          </p:cNvSpPr>
          <p:nvPr>
            <p:ph type="title"/>
          </p:nvPr>
        </p:nvSpPr>
        <p:spPr>
          <a:xfrm>
            <a:off x="818546" y="-114300"/>
            <a:ext cx="10353761" cy="1326321"/>
          </a:xfrm>
        </p:spPr>
        <p:txBody>
          <a:bodyPr/>
          <a:lstStyle/>
          <a:p>
            <a:r>
              <a:rPr lang="en-US" dirty="0"/>
              <a:t>Types of backup</a:t>
            </a:r>
          </a:p>
        </p:txBody>
      </p:sp>
      <p:sp>
        <p:nvSpPr>
          <p:cNvPr id="3" name="Content Placeholder 2">
            <a:extLst>
              <a:ext uri="{FF2B5EF4-FFF2-40B4-BE49-F238E27FC236}">
                <a16:creationId xmlns:a16="http://schemas.microsoft.com/office/drawing/2014/main" id="{238696EA-B3B2-4007-B9C1-09500EB838AA}"/>
              </a:ext>
            </a:extLst>
          </p:cNvPr>
          <p:cNvSpPr>
            <a:spLocks noGrp="1"/>
          </p:cNvSpPr>
          <p:nvPr>
            <p:ph idx="1"/>
          </p:nvPr>
        </p:nvSpPr>
        <p:spPr>
          <a:xfrm>
            <a:off x="919119" y="1019175"/>
            <a:ext cx="10353762" cy="5486400"/>
          </a:xfrm>
        </p:spPr>
        <p:txBody>
          <a:bodyPr>
            <a:normAutofit fontScale="92500" lnSpcReduction="10000"/>
          </a:bodyPr>
          <a:lstStyle/>
          <a:p>
            <a:r>
              <a:rPr lang="en-US" dirty="0"/>
              <a:t>   A </a:t>
            </a:r>
            <a:r>
              <a:rPr lang="en-US" b="1" dirty="0"/>
              <a:t>backup</a:t>
            </a:r>
            <a:r>
              <a:rPr lang="en-US" dirty="0"/>
              <a:t> is a real and consistent copy of data from a database that could be used to reconstruct the data after an incident. There are two different types of backups available, which are:</a:t>
            </a:r>
          </a:p>
          <a:p>
            <a:pPr>
              <a:buFont typeface="Wingdings" panose="05000000000000000000" pitchFamily="2" charset="2"/>
              <a:buChar char="Ø"/>
            </a:pPr>
            <a:r>
              <a:rPr lang="en-US" sz="2400" b="1" dirty="0">
                <a:solidFill>
                  <a:schemeClr val="tx2">
                    <a:lumMod val="90000"/>
                  </a:schemeClr>
                </a:solidFill>
              </a:rPr>
              <a:t>Physical backup:</a:t>
            </a:r>
          </a:p>
          <a:p>
            <a:r>
              <a:rPr lang="en-US" dirty="0"/>
              <a:t>Physical backup is a copy of all the physical database files that are required to perform the recovery of a database. These include </a:t>
            </a:r>
            <a:r>
              <a:rPr lang="en-US" b="1" dirty="0"/>
              <a:t>datafiles, control files, parameter files, and archived redo log files.</a:t>
            </a:r>
            <a:r>
              <a:rPr lang="en-US" dirty="0"/>
              <a:t> As an Oracle DBA, we have different options to make a physical backup of our database. Backups can be taken using </a:t>
            </a:r>
            <a:r>
              <a:rPr lang="en-US" b="1" dirty="0">
                <a:solidFill>
                  <a:srgbClr val="FFFF00"/>
                </a:solidFill>
              </a:rPr>
              <a:t>user-managed backup</a:t>
            </a:r>
            <a:r>
              <a:rPr lang="en-US" b="1" dirty="0"/>
              <a:t> techniques </a:t>
            </a:r>
            <a:r>
              <a:rPr lang="en-US" dirty="0"/>
              <a:t>or using </a:t>
            </a:r>
            <a:r>
              <a:rPr lang="en-US" b="1" dirty="0">
                <a:solidFill>
                  <a:srgbClr val="FFFF00"/>
                </a:solidFill>
              </a:rPr>
              <a:t>Recovery Manager (RMAN).</a:t>
            </a:r>
          </a:p>
          <a:p>
            <a:pPr>
              <a:buFont typeface="Wingdings" panose="05000000000000000000" pitchFamily="2" charset="2"/>
              <a:buChar char="Ø"/>
            </a:pPr>
            <a:r>
              <a:rPr lang="en-US" sz="2400" b="1" dirty="0">
                <a:solidFill>
                  <a:schemeClr val="tx2">
                    <a:lumMod val="90000"/>
                  </a:schemeClr>
                </a:solidFill>
              </a:rPr>
              <a:t>Logical backup:</a:t>
            </a:r>
          </a:p>
          <a:p>
            <a:r>
              <a:rPr lang="en-US" sz="2100" dirty="0"/>
              <a:t>Oracle uses </a:t>
            </a:r>
            <a:r>
              <a:rPr lang="en-US" sz="2100" b="1" dirty="0"/>
              <a:t>Oracle Data Pump </a:t>
            </a:r>
            <a:r>
              <a:rPr lang="en-US" sz="2100" dirty="0"/>
              <a:t>to allow you to generate a logical backup that can be used to migrate data or even do a partial or full recovery of our database. The utilities available are the Data Pump Export program </a:t>
            </a:r>
            <a:r>
              <a:rPr lang="en-US" sz="2100" b="1" dirty="0">
                <a:solidFill>
                  <a:srgbClr val="FFFF00"/>
                </a:solidFill>
              </a:rPr>
              <a:t>(</a:t>
            </a:r>
            <a:r>
              <a:rPr lang="en-US" sz="2100" b="1" dirty="0" err="1">
                <a:solidFill>
                  <a:srgbClr val="FFFF00"/>
                </a:solidFill>
              </a:rPr>
              <a:t>expdp</a:t>
            </a:r>
            <a:r>
              <a:rPr lang="en-US" sz="2100" b="1" dirty="0">
                <a:solidFill>
                  <a:srgbClr val="FFFF00"/>
                </a:solidFill>
              </a:rPr>
              <a:t>/exp)</a:t>
            </a:r>
            <a:r>
              <a:rPr lang="en-US" sz="2100" b="1" dirty="0"/>
              <a:t> </a:t>
            </a:r>
            <a:r>
              <a:rPr lang="en-US" sz="2100" dirty="0"/>
              <a:t>and the Data Pump Import program </a:t>
            </a:r>
            <a:r>
              <a:rPr lang="en-US" sz="2100" b="1" dirty="0">
                <a:solidFill>
                  <a:srgbClr val="FFFF00"/>
                </a:solidFill>
              </a:rPr>
              <a:t>(</a:t>
            </a:r>
            <a:r>
              <a:rPr lang="en-US" sz="2100" b="1" dirty="0" err="1">
                <a:solidFill>
                  <a:srgbClr val="FFFF00"/>
                </a:solidFill>
              </a:rPr>
              <a:t>impdp</a:t>
            </a:r>
            <a:r>
              <a:rPr lang="en-US" sz="2100" b="1" dirty="0">
                <a:solidFill>
                  <a:srgbClr val="FFFF00"/>
                </a:solidFill>
              </a:rPr>
              <a:t>/imp). </a:t>
            </a:r>
          </a:p>
        </p:txBody>
      </p:sp>
    </p:spTree>
    <p:extLst>
      <p:ext uri="{BB962C8B-B14F-4D97-AF65-F5344CB8AC3E}">
        <p14:creationId xmlns:p14="http://schemas.microsoft.com/office/powerpoint/2010/main" val="20881012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40255-1F1D-4AEB-AE41-11389F9D9150}"/>
              </a:ext>
            </a:extLst>
          </p:cNvPr>
          <p:cNvSpPr>
            <a:spLocks noGrp="1"/>
          </p:cNvSpPr>
          <p:nvPr>
            <p:ph type="title"/>
          </p:nvPr>
        </p:nvSpPr>
        <p:spPr>
          <a:xfrm>
            <a:off x="985490" y="95250"/>
            <a:ext cx="10353761" cy="1326321"/>
          </a:xfrm>
        </p:spPr>
        <p:txBody>
          <a:bodyPr/>
          <a:lstStyle/>
          <a:p>
            <a:r>
              <a:rPr lang="en-US" dirty="0"/>
              <a:t>Restore versus recovery</a:t>
            </a:r>
          </a:p>
        </p:txBody>
      </p:sp>
      <p:graphicFrame>
        <p:nvGraphicFramePr>
          <p:cNvPr id="5" name="Content Placeholder 2">
            <a:extLst>
              <a:ext uri="{FF2B5EF4-FFF2-40B4-BE49-F238E27FC236}">
                <a16:creationId xmlns:a16="http://schemas.microsoft.com/office/drawing/2014/main" id="{4375BFE5-7CDD-43B0-A1EC-2180CE735E3E}"/>
              </a:ext>
            </a:extLst>
          </p:cNvPr>
          <p:cNvGraphicFramePr>
            <a:graphicFrameLocks noGrp="1"/>
          </p:cNvGraphicFramePr>
          <p:nvPr>
            <p:ph idx="1"/>
            <p:extLst>
              <p:ext uri="{D42A27DB-BD31-4B8C-83A1-F6EECF244321}">
                <p14:modId xmlns:p14="http://schemas.microsoft.com/office/powerpoint/2010/main" val="2885591775"/>
              </p:ext>
            </p:extLst>
          </p:nvPr>
        </p:nvGraphicFramePr>
        <p:xfrm>
          <a:off x="390525" y="1619250"/>
          <a:ext cx="11439525" cy="4705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36085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92645-0C01-47AB-B762-23406B8BC53B}"/>
              </a:ext>
            </a:extLst>
          </p:cNvPr>
          <p:cNvSpPr>
            <a:spLocks noGrp="1"/>
          </p:cNvSpPr>
          <p:nvPr>
            <p:ph type="title"/>
          </p:nvPr>
        </p:nvSpPr>
        <p:spPr>
          <a:xfrm>
            <a:off x="919119" y="114300"/>
            <a:ext cx="10353761" cy="1326321"/>
          </a:xfrm>
        </p:spPr>
        <p:txBody>
          <a:bodyPr>
            <a:normAutofit/>
          </a:bodyPr>
          <a:lstStyle/>
          <a:p>
            <a:r>
              <a:rPr lang="en-US" dirty="0"/>
              <a:t>Important terms related to backup &amp; Recovery</a:t>
            </a:r>
          </a:p>
        </p:txBody>
      </p:sp>
      <p:sp>
        <p:nvSpPr>
          <p:cNvPr id="3" name="Content Placeholder 2">
            <a:extLst>
              <a:ext uri="{FF2B5EF4-FFF2-40B4-BE49-F238E27FC236}">
                <a16:creationId xmlns:a16="http://schemas.microsoft.com/office/drawing/2014/main" id="{FBE43986-D78D-47D8-A076-C22F2D385FFB}"/>
              </a:ext>
            </a:extLst>
          </p:cNvPr>
          <p:cNvSpPr>
            <a:spLocks noGrp="1"/>
          </p:cNvSpPr>
          <p:nvPr>
            <p:ph idx="1"/>
          </p:nvPr>
        </p:nvSpPr>
        <p:spPr>
          <a:xfrm>
            <a:off x="485775" y="1440621"/>
            <a:ext cx="6780844" cy="5122103"/>
          </a:xfrm>
        </p:spPr>
        <p:txBody>
          <a:bodyPr>
            <a:normAutofit lnSpcReduction="10000"/>
          </a:bodyPr>
          <a:lstStyle/>
          <a:p>
            <a:pPr>
              <a:lnSpc>
                <a:spcPct val="110000"/>
              </a:lnSpc>
            </a:pPr>
            <a:r>
              <a:rPr lang="en-US" sz="1800" b="1" dirty="0"/>
              <a:t>What is redo</a:t>
            </a:r>
            <a:r>
              <a:rPr lang="en-US" sz="1600" b="1" dirty="0"/>
              <a:t>?</a:t>
            </a:r>
            <a:r>
              <a:rPr lang="en-US" sz="1600" dirty="0"/>
              <a:t>   Oracle blocks (the smallest unit of storage in a database) are changed, including UNDO blocks, Oracle records the changes in the form of vector changes, which are referred to as redo entries or redo records. Redo log files protect the database from loss of integrity due to system failures caused by power outages, disk failures, and so on.</a:t>
            </a:r>
            <a:endParaRPr lang="en-US" sz="1600" b="1" dirty="0"/>
          </a:p>
          <a:p>
            <a:pPr marL="0" indent="0">
              <a:lnSpc>
                <a:spcPct val="110000"/>
              </a:lnSpc>
              <a:buNone/>
            </a:pPr>
            <a:r>
              <a:rPr lang="en-US" sz="1600" dirty="0"/>
              <a:t>The redo entries are written by the </a:t>
            </a:r>
            <a:r>
              <a:rPr lang="en-US" sz="1600" b="1" dirty="0"/>
              <a:t>LGWR</a:t>
            </a:r>
            <a:r>
              <a:rPr lang="en-US" sz="1600" dirty="0"/>
              <a:t> to a disk when: </a:t>
            </a:r>
          </a:p>
          <a:p>
            <a:pPr marL="457200" indent="-457200">
              <a:lnSpc>
                <a:spcPct val="110000"/>
              </a:lnSpc>
              <a:buFont typeface="+mj-lt"/>
              <a:buAutoNum type="arabicPeriod"/>
            </a:pPr>
            <a:r>
              <a:rPr lang="en-US" sz="1600" dirty="0"/>
              <a:t>A user issues a commit </a:t>
            </a:r>
          </a:p>
          <a:p>
            <a:pPr marL="457200" indent="-457200">
              <a:lnSpc>
                <a:spcPct val="110000"/>
              </a:lnSpc>
              <a:buFont typeface="+mj-lt"/>
              <a:buAutoNum type="arabicPeriod"/>
            </a:pPr>
            <a:r>
              <a:rPr lang="en-US" sz="1600" dirty="0"/>
              <a:t> The log buffer is one third full</a:t>
            </a:r>
          </a:p>
          <a:p>
            <a:pPr marL="457200" indent="-457200">
              <a:lnSpc>
                <a:spcPct val="110000"/>
              </a:lnSpc>
              <a:buFont typeface="+mj-lt"/>
              <a:buAutoNum type="arabicPeriod"/>
            </a:pPr>
            <a:r>
              <a:rPr lang="en-US" sz="1600" dirty="0"/>
              <a:t> The amount of unwritten redo entries </a:t>
            </a:r>
            <a:r>
              <a:rPr lang="en-US" sz="1600" b="1" dirty="0"/>
              <a:t>is 1 MB </a:t>
            </a:r>
          </a:p>
          <a:p>
            <a:pPr marL="457200" indent="-457200">
              <a:lnSpc>
                <a:spcPct val="110000"/>
              </a:lnSpc>
              <a:buFont typeface="+mj-lt"/>
              <a:buAutoNum type="arabicPeriod"/>
            </a:pPr>
            <a:r>
              <a:rPr lang="en-US" sz="1600" dirty="0"/>
              <a:t> When a database checkpoint takes place </a:t>
            </a:r>
          </a:p>
          <a:p>
            <a:pPr marL="457200" indent="-457200">
              <a:lnSpc>
                <a:spcPct val="110000"/>
              </a:lnSpc>
              <a:buFont typeface="+mj-lt"/>
              <a:buAutoNum type="arabicPeriod"/>
            </a:pPr>
            <a:r>
              <a:rPr lang="en-US" sz="1600" dirty="0"/>
              <a:t>Otherwise, </a:t>
            </a:r>
            <a:r>
              <a:rPr lang="en-US" sz="1600" b="1" dirty="0"/>
              <a:t>every three seconds</a:t>
            </a:r>
          </a:p>
          <a:p>
            <a:pPr marL="0" indent="0">
              <a:lnSpc>
                <a:spcPct val="110000"/>
              </a:lnSpc>
              <a:buNone/>
            </a:pPr>
            <a:endParaRPr lang="en-US" sz="1600" dirty="0"/>
          </a:p>
          <a:p>
            <a:pPr marL="0" indent="0">
              <a:lnSpc>
                <a:spcPct val="110000"/>
              </a:lnSpc>
              <a:buNone/>
            </a:pPr>
            <a:r>
              <a:rPr lang="en-US" sz="1600" dirty="0"/>
              <a:t>Redo log files must be multiplexed using different disks (use of fast disk is preferred) to ensure that the information stored in them is not lost in the event of a disk failure.</a:t>
            </a:r>
          </a:p>
        </p:txBody>
      </p:sp>
      <p:pic>
        <p:nvPicPr>
          <p:cNvPr id="4" name="Picture 3">
            <a:extLst>
              <a:ext uri="{FF2B5EF4-FFF2-40B4-BE49-F238E27FC236}">
                <a16:creationId xmlns:a16="http://schemas.microsoft.com/office/drawing/2014/main" id="{16714EFA-3FA7-4921-8380-A49F84C44D3F}"/>
              </a:ext>
            </a:extLst>
          </p:cNvPr>
          <p:cNvPicPr>
            <a:picLocks noChangeAspect="1"/>
          </p:cNvPicPr>
          <p:nvPr/>
        </p:nvPicPr>
        <p:blipFill>
          <a:blip r:embed="rId3"/>
          <a:stretch>
            <a:fillRect/>
          </a:stretch>
        </p:blipFill>
        <p:spPr>
          <a:xfrm>
            <a:off x="7678736" y="2776690"/>
            <a:ext cx="3511778" cy="236167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37108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AB1DD-A101-4253-A97E-5FA917AD459C}"/>
              </a:ext>
            </a:extLst>
          </p:cNvPr>
          <p:cNvSpPr>
            <a:spLocks noGrp="1"/>
          </p:cNvSpPr>
          <p:nvPr>
            <p:ph type="title"/>
          </p:nvPr>
        </p:nvSpPr>
        <p:spPr>
          <a:xfrm>
            <a:off x="913795" y="609600"/>
            <a:ext cx="10353761" cy="1326321"/>
          </a:xfrm>
        </p:spPr>
        <p:txBody>
          <a:bodyPr>
            <a:normAutofit/>
          </a:bodyPr>
          <a:lstStyle/>
          <a:p>
            <a:r>
              <a:rPr lang="en-US" dirty="0"/>
              <a:t>The NOARCHIVELOG mode</a:t>
            </a:r>
          </a:p>
        </p:txBody>
      </p:sp>
      <p:graphicFrame>
        <p:nvGraphicFramePr>
          <p:cNvPr id="5" name="Content Placeholder 2">
            <a:extLst>
              <a:ext uri="{FF2B5EF4-FFF2-40B4-BE49-F238E27FC236}">
                <a16:creationId xmlns:a16="http://schemas.microsoft.com/office/drawing/2014/main" id="{3377FC6F-CD32-4D00-990B-8C743B6E6D6E}"/>
              </a:ext>
            </a:extLst>
          </p:cNvPr>
          <p:cNvGraphicFramePr>
            <a:graphicFrameLocks noGrp="1"/>
          </p:cNvGraphicFramePr>
          <p:nvPr>
            <p:ph idx="1"/>
            <p:extLst>
              <p:ext uri="{D42A27DB-BD31-4B8C-83A1-F6EECF244321}">
                <p14:modId xmlns:p14="http://schemas.microsoft.com/office/powerpoint/2010/main" val="3745229434"/>
              </p:ext>
            </p:extLst>
          </p:nvPr>
        </p:nvGraphicFramePr>
        <p:xfrm>
          <a:off x="914400" y="2257654"/>
          <a:ext cx="10353675" cy="3303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167620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E339-472D-4BCE-8319-19D69D4020D0}"/>
              </a:ext>
            </a:extLst>
          </p:cNvPr>
          <p:cNvSpPr>
            <a:spLocks noGrp="1"/>
          </p:cNvSpPr>
          <p:nvPr>
            <p:ph type="title"/>
          </p:nvPr>
        </p:nvSpPr>
        <p:spPr>
          <a:xfrm>
            <a:off x="919119" y="152400"/>
            <a:ext cx="10353761" cy="1326321"/>
          </a:xfrm>
        </p:spPr>
        <p:txBody>
          <a:bodyPr>
            <a:normAutofit/>
          </a:bodyPr>
          <a:lstStyle/>
          <a:p>
            <a:r>
              <a:rPr lang="en-US" dirty="0"/>
              <a:t>The ARCHIVELOG mode</a:t>
            </a:r>
          </a:p>
        </p:txBody>
      </p:sp>
      <p:sp>
        <p:nvSpPr>
          <p:cNvPr id="3" name="Content Placeholder 2">
            <a:extLst>
              <a:ext uri="{FF2B5EF4-FFF2-40B4-BE49-F238E27FC236}">
                <a16:creationId xmlns:a16="http://schemas.microsoft.com/office/drawing/2014/main" id="{A752BAA6-9818-48EF-8F2E-3D7E576D2A97}"/>
              </a:ext>
            </a:extLst>
          </p:cNvPr>
          <p:cNvSpPr>
            <a:spLocks noGrp="1"/>
          </p:cNvSpPr>
          <p:nvPr>
            <p:ph idx="1"/>
          </p:nvPr>
        </p:nvSpPr>
        <p:spPr>
          <a:xfrm>
            <a:off x="571500" y="1735895"/>
            <a:ext cx="5359155" cy="4598229"/>
          </a:xfrm>
        </p:spPr>
        <p:txBody>
          <a:bodyPr>
            <a:normAutofit/>
          </a:bodyPr>
          <a:lstStyle/>
          <a:p>
            <a:pPr>
              <a:lnSpc>
                <a:spcPct val="110000"/>
              </a:lnSpc>
            </a:pPr>
            <a:r>
              <a:rPr lang="en-US" dirty="0"/>
              <a:t>Oracle lets you save filled redo log files to one or more offline destinations to improve the recoverability of your data by having all transactions saved in case of a crash, reducing any possibility of data loss.</a:t>
            </a:r>
          </a:p>
          <a:p>
            <a:pPr>
              <a:lnSpc>
                <a:spcPct val="110000"/>
              </a:lnSpc>
            </a:pPr>
            <a:r>
              <a:rPr lang="en-US" dirty="0"/>
              <a:t>The copy of the redo log file containing transactions against your database made to a different location is known as an </a:t>
            </a:r>
            <a:r>
              <a:rPr lang="en-US" b="1" dirty="0"/>
              <a:t>ARCHIVELOG</a:t>
            </a:r>
            <a:r>
              <a:rPr lang="en-US" dirty="0"/>
              <a:t> file, and the process of turning redo log files into archived redo log files is called archiving.</a:t>
            </a:r>
          </a:p>
          <a:p>
            <a:pPr>
              <a:lnSpc>
                <a:spcPct val="110000"/>
              </a:lnSpc>
            </a:pPr>
            <a:endParaRPr lang="en-US" sz="1700" dirty="0"/>
          </a:p>
        </p:txBody>
      </p:sp>
      <p:pic>
        <p:nvPicPr>
          <p:cNvPr id="4" name="Picture 3" descr="Diagram&#10;&#10;Description automatically generated">
            <a:extLst>
              <a:ext uri="{FF2B5EF4-FFF2-40B4-BE49-F238E27FC236}">
                <a16:creationId xmlns:a16="http://schemas.microsoft.com/office/drawing/2014/main" id="{E6A072E4-5586-40E4-BC3A-C4C1D553B150}"/>
              </a:ext>
            </a:extLst>
          </p:cNvPr>
          <p:cNvPicPr>
            <a:picLocks noChangeAspect="1"/>
          </p:cNvPicPr>
          <p:nvPr/>
        </p:nvPicPr>
        <p:blipFill>
          <a:blip r:embed="rId3"/>
          <a:stretch>
            <a:fillRect/>
          </a:stretch>
        </p:blipFill>
        <p:spPr>
          <a:xfrm>
            <a:off x="6357257" y="2253802"/>
            <a:ext cx="4833257" cy="3407446"/>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7381780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B2D92-EBEC-412B-A845-0704B51A3D0E}"/>
              </a:ext>
            </a:extLst>
          </p:cNvPr>
          <p:cNvSpPr>
            <a:spLocks noGrp="1"/>
          </p:cNvSpPr>
          <p:nvPr>
            <p:ph type="title"/>
          </p:nvPr>
        </p:nvSpPr>
        <p:spPr>
          <a:xfrm>
            <a:off x="0" y="95250"/>
            <a:ext cx="12192000" cy="1073151"/>
          </a:xfrm>
        </p:spPr>
        <p:txBody>
          <a:bodyPr>
            <a:normAutofit/>
          </a:bodyPr>
          <a:lstStyle/>
          <a:p>
            <a:r>
              <a:rPr lang="en-US" sz="3200" dirty="0"/>
              <a:t>Placing a database into the ARCHIVELOG mode</a:t>
            </a:r>
          </a:p>
        </p:txBody>
      </p:sp>
      <p:sp>
        <p:nvSpPr>
          <p:cNvPr id="3" name="Content Placeholder 2">
            <a:extLst>
              <a:ext uri="{FF2B5EF4-FFF2-40B4-BE49-F238E27FC236}">
                <a16:creationId xmlns:a16="http://schemas.microsoft.com/office/drawing/2014/main" id="{03991548-6E86-48F2-A2A0-ACC322036BC2}"/>
              </a:ext>
            </a:extLst>
          </p:cNvPr>
          <p:cNvSpPr>
            <a:spLocks noGrp="1"/>
          </p:cNvSpPr>
          <p:nvPr>
            <p:ph idx="1"/>
          </p:nvPr>
        </p:nvSpPr>
        <p:spPr>
          <a:xfrm>
            <a:off x="629920" y="1036320"/>
            <a:ext cx="10971531" cy="5726431"/>
          </a:xfrm>
        </p:spPr>
        <p:txBody>
          <a:bodyPr>
            <a:normAutofit fontScale="70000" lnSpcReduction="20000"/>
          </a:bodyPr>
          <a:lstStyle/>
          <a:p>
            <a:r>
              <a:rPr lang="en-US" sz="2200" dirty="0"/>
              <a:t>Set up the size of your FRA to be used by your database. You can do this by using the command: </a:t>
            </a:r>
          </a:p>
          <a:p>
            <a:r>
              <a:rPr lang="en-US" sz="2200" dirty="0"/>
              <a:t>SQL&gt; </a:t>
            </a:r>
            <a:r>
              <a:rPr lang="en-US" sz="2200" dirty="0">
                <a:solidFill>
                  <a:srgbClr val="FFFF00"/>
                </a:solidFill>
              </a:rPr>
              <a:t>ALTER SYSTEM SET DB_RECOVERY_FILE_DEST_SIZE= SCOPE=both;</a:t>
            </a:r>
          </a:p>
          <a:p>
            <a:r>
              <a:rPr lang="en-US" sz="2200" dirty="0"/>
              <a:t>Specify the location of the FRA using the command:</a:t>
            </a:r>
          </a:p>
          <a:p>
            <a:r>
              <a:rPr lang="en-US" sz="2200" dirty="0"/>
              <a:t>SQL&gt; </a:t>
            </a:r>
            <a:r>
              <a:rPr lang="en-US" sz="2200" dirty="0">
                <a:solidFill>
                  <a:srgbClr val="FFFF00"/>
                </a:solidFill>
              </a:rPr>
              <a:t>ALTER SYSTEM SET DB_RECOVERY_FILE_DEST= '/u01/app/oracle/</a:t>
            </a:r>
            <a:r>
              <a:rPr lang="en-US" sz="2200" dirty="0" err="1">
                <a:solidFill>
                  <a:srgbClr val="FFFF00"/>
                </a:solidFill>
              </a:rPr>
              <a:t>fast_recovery_area</a:t>
            </a:r>
            <a:r>
              <a:rPr lang="en-US" sz="2200" dirty="0">
                <a:solidFill>
                  <a:srgbClr val="FFFF00"/>
                </a:solidFill>
              </a:rPr>
              <a:t>' scope=both;</a:t>
            </a:r>
          </a:p>
          <a:p>
            <a:r>
              <a:rPr lang="en-US" sz="2200" dirty="0"/>
              <a:t>Define your archive log destination area using the command: </a:t>
            </a:r>
          </a:p>
          <a:p>
            <a:r>
              <a:rPr lang="en-US" sz="2200" dirty="0"/>
              <a:t>SQL&gt; </a:t>
            </a:r>
            <a:r>
              <a:rPr lang="en-US" sz="2200" dirty="0">
                <a:solidFill>
                  <a:srgbClr val="FFFF00"/>
                </a:solidFill>
              </a:rPr>
              <a:t>ALTER SYSTEM SET log_archive_dest_1= 'LOCATION=/DB/u02/backups/</a:t>
            </a:r>
            <a:r>
              <a:rPr lang="en-US" sz="2200" dirty="0" err="1">
                <a:solidFill>
                  <a:srgbClr val="FFFF00"/>
                </a:solidFill>
              </a:rPr>
              <a:t>archivelog</a:t>
            </a:r>
            <a:r>
              <a:rPr lang="en-US" sz="2200" dirty="0">
                <a:solidFill>
                  <a:srgbClr val="FFFF00"/>
                </a:solidFill>
              </a:rPr>
              <a:t>' scope=both;</a:t>
            </a:r>
          </a:p>
          <a:p>
            <a:r>
              <a:rPr lang="en-US" sz="2200" dirty="0"/>
              <a:t>Define your secondary archive log area to use the FRA with the command:</a:t>
            </a:r>
          </a:p>
          <a:p>
            <a:r>
              <a:rPr lang="en-US" sz="2200" dirty="0"/>
              <a:t>SQL&gt; </a:t>
            </a:r>
            <a:r>
              <a:rPr lang="en-US" sz="2200" dirty="0">
                <a:solidFill>
                  <a:srgbClr val="FFFF00"/>
                </a:solidFill>
              </a:rPr>
              <a:t>ALTER SYSTEM SET log_archive_dest_10= 'LOCATION=USE_DB_RECOVERY_FILE_DEST’;</a:t>
            </a:r>
          </a:p>
          <a:p>
            <a:r>
              <a:rPr lang="en-US" sz="2200" dirty="0"/>
              <a:t>Shutdown your database using the command:</a:t>
            </a:r>
          </a:p>
          <a:p>
            <a:r>
              <a:rPr lang="en-US" sz="2200" dirty="0"/>
              <a:t>SQL&gt; </a:t>
            </a:r>
            <a:r>
              <a:rPr lang="en-US" sz="2200" dirty="0">
                <a:solidFill>
                  <a:srgbClr val="FFFF00"/>
                </a:solidFill>
              </a:rPr>
              <a:t>SHUTDOWN IMMEDIATE</a:t>
            </a:r>
          </a:p>
          <a:p>
            <a:r>
              <a:rPr lang="en-US" sz="2200" dirty="0"/>
              <a:t>Start your database in mount mode using the command:</a:t>
            </a:r>
          </a:p>
          <a:p>
            <a:r>
              <a:rPr lang="en-US" sz="2200" dirty="0"/>
              <a:t>SQL&gt; </a:t>
            </a:r>
            <a:r>
              <a:rPr lang="en-US" sz="2200" dirty="0">
                <a:solidFill>
                  <a:srgbClr val="FFFF00"/>
                </a:solidFill>
              </a:rPr>
              <a:t>STARTUP MOUNT</a:t>
            </a:r>
          </a:p>
          <a:p>
            <a:r>
              <a:rPr lang="en-US" sz="2200" dirty="0"/>
              <a:t>Switch your database to use the ARCHIVELOG mode using the command: </a:t>
            </a:r>
          </a:p>
          <a:p>
            <a:r>
              <a:rPr lang="en-US" sz="2200" dirty="0"/>
              <a:t>SQL&gt; </a:t>
            </a:r>
            <a:r>
              <a:rPr lang="en-US" sz="2200" dirty="0">
                <a:solidFill>
                  <a:srgbClr val="FFFF00"/>
                </a:solidFill>
              </a:rPr>
              <a:t>ALTER DATABASE ARCHIVELOG;</a:t>
            </a:r>
          </a:p>
          <a:p>
            <a:r>
              <a:rPr lang="en-US" sz="2200" dirty="0"/>
              <a:t>Then finally open your database using the command:</a:t>
            </a:r>
          </a:p>
          <a:p>
            <a:r>
              <a:rPr lang="en-US" sz="2200" dirty="0"/>
              <a:t> SQL&gt; </a:t>
            </a:r>
            <a:r>
              <a:rPr lang="en-US" sz="2200" dirty="0">
                <a:solidFill>
                  <a:srgbClr val="FFFF00"/>
                </a:solidFill>
              </a:rPr>
              <a:t>ALTER DATABASE OPEN;</a:t>
            </a:r>
            <a:endParaRPr lang="en-US" dirty="0">
              <a:solidFill>
                <a:srgbClr val="FFFF00"/>
              </a:solidFill>
            </a:endParaRPr>
          </a:p>
        </p:txBody>
      </p:sp>
    </p:spTree>
    <p:extLst>
      <p:ext uri="{BB962C8B-B14F-4D97-AF65-F5344CB8AC3E}">
        <p14:creationId xmlns:p14="http://schemas.microsoft.com/office/powerpoint/2010/main" val="187443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5B9E-1678-4CDD-8BDC-9B495A6AFBB1}"/>
              </a:ext>
            </a:extLst>
          </p:cNvPr>
          <p:cNvSpPr>
            <a:spLocks noGrp="1"/>
          </p:cNvSpPr>
          <p:nvPr>
            <p:ph type="title"/>
          </p:nvPr>
        </p:nvSpPr>
        <p:spPr>
          <a:xfrm>
            <a:off x="913794" y="0"/>
            <a:ext cx="10353761" cy="1326321"/>
          </a:xfrm>
        </p:spPr>
        <p:txBody>
          <a:bodyPr/>
          <a:lstStyle/>
          <a:p>
            <a:r>
              <a:rPr lang="en-US" dirty="0"/>
              <a:t>User-managed Backup and Recovery</a:t>
            </a:r>
          </a:p>
        </p:txBody>
      </p:sp>
      <p:sp>
        <p:nvSpPr>
          <p:cNvPr id="3" name="Content Placeholder 2">
            <a:extLst>
              <a:ext uri="{FF2B5EF4-FFF2-40B4-BE49-F238E27FC236}">
                <a16:creationId xmlns:a16="http://schemas.microsoft.com/office/drawing/2014/main" id="{C66F4D6C-A832-4931-9DD6-583C3880E26E}"/>
              </a:ext>
            </a:extLst>
          </p:cNvPr>
          <p:cNvSpPr>
            <a:spLocks noGrp="1"/>
          </p:cNvSpPr>
          <p:nvPr>
            <p:ph idx="1"/>
          </p:nvPr>
        </p:nvSpPr>
        <p:spPr>
          <a:xfrm>
            <a:off x="913794" y="1171856"/>
            <a:ext cx="10364412" cy="5162269"/>
          </a:xfrm>
        </p:spPr>
        <p:txBody>
          <a:bodyPr/>
          <a:lstStyle/>
          <a:p>
            <a:r>
              <a:rPr lang="en-US" b="1" dirty="0"/>
              <a:t>User-managed backups </a:t>
            </a:r>
            <a:r>
              <a:rPr lang="en-US" dirty="0"/>
              <a:t>are basically all the backups which you can take without using </a:t>
            </a:r>
            <a:r>
              <a:rPr lang="en-US" b="1" dirty="0"/>
              <a:t>RMAN</a:t>
            </a:r>
            <a:r>
              <a:rPr lang="en-US" dirty="0"/>
              <a:t>. Moreover, no automatic metadata record of the backup is generated anywhere in the database. Therefore, you must always keep records of what you backed up and where.</a:t>
            </a:r>
          </a:p>
          <a:p>
            <a:r>
              <a:rPr lang="en-US" dirty="0"/>
              <a:t>Before you start a user-managed backup, you will always need to know first: </a:t>
            </a:r>
          </a:p>
          <a:p>
            <a:pPr marL="0" indent="0">
              <a:buNone/>
            </a:pPr>
            <a:r>
              <a:rPr lang="en-US" dirty="0"/>
              <a:t>1. Where all your datafiles are located and their names. </a:t>
            </a:r>
            <a:r>
              <a:rPr lang="en-US" dirty="0">
                <a:solidFill>
                  <a:srgbClr val="00B0F0"/>
                </a:solidFill>
              </a:rPr>
              <a:t>(SELECT name FROM </a:t>
            </a:r>
            <a:r>
              <a:rPr lang="en-US" dirty="0" err="1">
                <a:solidFill>
                  <a:srgbClr val="00B0F0"/>
                </a:solidFill>
              </a:rPr>
              <a:t>v$datafile</a:t>
            </a:r>
            <a:r>
              <a:rPr lang="en-US" dirty="0">
                <a:solidFill>
                  <a:srgbClr val="00B0F0"/>
                </a:solidFill>
              </a:rPr>
              <a:t>; )</a:t>
            </a:r>
          </a:p>
          <a:p>
            <a:pPr marL="0" indent="0">
              <a:buNone/>
            </a:pPr>
            <a:r>
              <a:rPr lang="en-US" dirty="0"/>
              <a:t>2. Where your archive logs are located. </a:t>
            </a:r>
            <a:r>
              <a:rPr lang="en-US" dirty="0">
                <a:solidFill>
                  <a:srgbClr val="00B0F0"/>
                </a:solidFill>
              </a:rPr>
              <a:t>(Archive log list)</a:t>
            </a:r>
          </a:p>
          <a:p>
            <a:pPr marL="0" indent="0">
              <a:buNone/>
            </a:pPr>
            <a:r>
              <a:rPr lang="en-US" dirty="0"/>
              <a:t>3. Where your control file is located. </a:t>
            </a:r>
            <a:r>
              <a:rPr lang="en-US" dirty="0">
                <a:solidFill>
                  <a:srgbClr val="00B0F0"/>
                </a:solidFill>
              </a:rPr>
              <a:t>(SELECT name FROM </a:t>
            </a:r>
            <a:r>
              <a:rPr lang="en-US" dirty="0" err="1">
                <a:solidFill>
                  <a:srgbClr val="00B0F0"/>
                </a:solidFill>
              </a:rPr>
              <a:t>v$controlfile</a:t>
            </a:r>
            <a:r>
              <a:rPr lang="en-US" dirty="0">
                <a:solidFill>
                  <a:srgbClr val="00B0F0"/>
                </a:solidFill>
              </a:rPr>
              <a:t>;)</a:t>
            </a:r>
          </a:p>
          <a:p>
            <a:pPr marL="0" indent="0">
              <a:buNone/>
            </a:pPr>
            <a:r>
              <a:rPr lang="en-US" dirty="0"/>
              <a:t>4. And finally where your SPFILE or PFILE is located. </a:t>
            </a:r>
            <a:r>
              <a:rPr lang="en-US" dirty="0">
                <a:solidFill>
                  <a:srgbClr val="00B0F0"/>
                </a:solidFill>
              </a:rPr>
              <a:t>(Show parameter </a:t>
            </a:r>
            <a:r>
              <a:rPr lang="en-US" dirty="0" err="1">
                <a:solidFill>
                  <a:srgbClr val="00B0F0"/>
                </a:solidFill>
              </a:rPr>
              <a:t>spfile</a:t>
            </a:r>
            <a:r>
              <a:rPr lang="en-US" dirty="0">
                <a:solidFill>
                  <a:srgbClr val="00B0F0"/>
                </a:solidFill>
              </a:rPr>
              <a:t>)</a:t>
            </a:r>
          </a:p>
        </p:txBody>
      </p:sp>
    </p:spTree>
    <p:extLst>
      <p:ext uri="{BB962C8B-B14F-4D97-AF65-F5344CB8AC3E}">
        <p14:creationId xmlns:p14="http://schemas.microsoft.com/office/powerpoint/2010/main" val="17957949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5170B-1F28-4211-AFAC-E2676498123A}"/>
              </a:ext>
            </a:extLst>
          </p:cNvPr>
          <p:cNvSpPr>
            <a:spLocks noGrp="1"/>
          </p:cNvSpPr>
          <p:nvPr>
            <p:ph type="title"/>
          </p:nvPr>
        </p:nvSpPr>
        <p:spPr>
          <a:xfrm>
            <a:off x="989995" y="0"/>
            <a:ext cx="10353761" cy="1326321"/>
          </a:xfrm>
        </p:spPr>
        <p:txBody>
          <a:bodyPr/>
          <a:lstStyle/>
          <a:p>
            <a:r>
              <a:rPr lang="en-US"/>
              <a:t>USER MANAGED backup - COLD BACKUP</a:t>
            </a:r>
            <a:endParaRPr lang="en-US" dirty="0"/>
          </a:p>
        </p:txBody>
      </p:sp>
      <p:sp>
        <p:nvSpPr>
          <p:cNvPr id="3" name="Content Placeholder 2">
            <a:extLst>
              <a:ext uri="{FF2B5EF4-FFF2-40B4-BE49-F238E27FC236}">
                <a16:creationId xmlns:a16="http://schemas.microsoft.com/office/drawing/2014/main" id="{5DAA918F-DA21-4243-80A5-3DF4D082BA88}"/>
              </a:ext>
            </a:extLst>
          </p:cNvPr>
          <p:cNvSpPr>
            <a:spLocks noGrp="1"/>
          </p:cNvSpPr>
          <p:nvPr>
            <p:ph idx="1"/>
          </p:nvPr>
        </p:nvSpPr>
        <p:spPr>
          <a:xfrm>
            <a:off x="514350" y="1171575"/>
            <a:ext cx="11153775" cy="5353050"/>
          </a:xfrm>
        </p:spPr>
        <p:txBody>
          <a:bodyPr>
            <a:normAutofit fontScale="85000" lnSpcReduction="20000"/>
          </a:bodyPr>
          <a:lstStyle/>
          <a:p>
            <a:r>
              <a:rPr lang="en-US" dirty="0"/>
              <a:t>cold backups are the only possible way for a DBA to perform a consistent backup of a database independent of the mode your database is running.</a:t>
            </a:r>
          </a:p>
          <a:p>
            <a:r>
              <a:rPr lang="en-US" dirty="0"/>
              <a:t>You can easily perform a manual backup of your database with the database down by following these simple steps:</a:t>
            </a:r>
          </a:p>
          <a:p>
            <a:r>
              <a:rPr lang="en-US" dirty="0"/>
              <a:t>If your database is OPEN, then shut down your database completely in a consistent mode </a:t>
            </a:r>
            <a:r>
              <a:rPr lang="en-US" dirty="0">
                <a:solidFill>
                  <a:srgbClr val="FFC000"/>
                </a:solidFill>
              </a:rPr>
              <a:t>(use SHUTDOWN [NORMAL/IMMEDIATE/TRANSACTIONAL] only)</a:t>
            </a:r>
            <a:r>
              <a:rPr lang="en-US" dirty="0"/>
              <a:t>. This will ensure that all the database file headers are consistent to the same SCN</a:t>
            </a:r>
          </a:p>
          <a:p>
            <a:r>
              <a:rPr lang="en-US" dirty="0"/>
              <a:t>Backup all the database datafiles, control files, and the PFILE or SPFILE (copying them to a stage area on the operating system level):</a:t>
            </a:r>
          </a:p>
          <a:p>
            <a:r>
              <a:rPr lang="en-US" dirty="0"/>
              <a:t>Example:    </a:t>
            </a:r>
            <a:r>
              <a:rPr lang="en-US" dirty="0">
                <a:solidFill>
                  <a:srgbClr val="FFC000"/>
                </a:solidFill>
              </a:rPr>
              <a:t>cp $ORACLE_BASE/</a:t>
            </a:r>
            <a:r>
              <a:rPr lang="en-US" dirty="0" err="1">
                <a:solidFill>
                  <a:srgbClr val="FFC000"/>
                </a:solidFill>
              </a:rPr>
              <a:t>oradata</a:t>
            </a:r>
            <a:r>
              <a:rPr lang="en-US" dirty="0">
                <a:solidFill>
                  <a:srgbClr val="FFC000"/>
                </a:solidFill>
              </a:rPr>
              <a:t>/cdb1/*.</a:t>
            </a:r>
            <a:r>
              <a:rPr lang="en-US" dirty="0" err="1">
                <a:solidFill>
                  <a:srgbClr val="FFC000"/>
                </a:solidFill>
              </a:rPr>
              <a:t>dbf</a:t>
            </a:r>
            <a:r>
              <a:rPr lang="en-US" dirty="0">
                <a:solidFill>
                  <a:srgbClr val="FFC000"/>
                </a:solidFill>
              </a:rPr>
              <a:t> /stage/backup</a:t>
            </a:r>
          </a:p>
          <a:p>
            <a:r>
              <a:rPr lang="en-US" dirty="0"/>
              <a:t>Restart the database</a:t>
            </a:r>
          </a:p>
          <a:p>
            <a:r>
              <a:rPr lang="en-US" dirty="0"/>
              <a:t>Archive all unachieved redo logs so any redo required to recover the tablespace is archived and executes a backup of all the archive log files: </a:t>
            </a:r>
          </a:p>
          <a:p>
            <a:r>
              <a:rPr lang="en-US" dirty="0"/>
              <a:t>SQL&gt; </a:t>
            </a:r>
            <a:r>
              <a:rPr lang="en-US" dirty="0">
                <a:solidFill>
                  <a:srgbClr val="FFC000"/>
                </a:solidFill>
              </a:rPr>
              <a:t>ALTER SYSTEM ARCHIVE LOG CURRENT</a:t>
            </a:r>
            <a:r>
              <a:rPr lang="en-US" dirty="0"/>
              <a:t>; </a:t>
            </a:r>
          </a:p>
          <a:p>
            <a:r>
              <a:rPr lang="en-US" dirty="0"/>
              <a:t> </a:t>
            </a:r>
            <a:r>
              <a:rPr lang="en-US" dirty="0">
                <a:solidFill>
                  <a:srgbClr val="FFC000"/>
                </a:solidFill>
              </a:rPr>
              <a:t>cp $ORACLE_BASE/</a:t>
            </a:r>
            <a:r>
              <a:rPr lang="en-US" dirty="0" err="1">
                <a:solidFill>
                  <a:srgbClr val="FFC000"/>
                </a:solidFill>
              </a:rPr>
              <a:t>fast_recovery_area</a:t>
            </a:r>
            <a:r>
              <a:rPr lang="en-US" dirty="0">
                <a:solidFill>
                  <a:srgbClr val="FFC000"/>
                </a:solidFill>
              </a:rPr>
              <a:t>/*.arc /stage/backup</a:t>
            </a:r>
          </a:p>
        </p:txBody>
      </p:sp>
    </p:spTree>
    <p:extLst>
      <p:ext uri="{BB962C8B-B14F-4D97-AF65-F5344CB8AC3E}">
        <p14:creationId xmlns:p14="http://schemas.microsoft.com/office/powerpoint/2010/main" val="224674876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additive="base">
                                        <p:cTn id="2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1000"/>
                                        <p:tgtEl>
                                          <p:spTgt spid="3">
                                            <p:txEl>
                                              <p:pRg st="4" end="4"/>
                                            </p:txEl>
                                          </p:spTgt>
                                        </p:tgtEl>
                                      </p:cBhvr>
                                    </p:animEffect>
                                    <p:anim calcmode="lin" valueType="num">
                                      <p:cBhvr>
                                        <p:cTn id="3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additive="base">
                                        <p:cTn id="3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 calcmode="lin" valueType="num">
                                      <p:cBhvr additive="base">
                                        <p:cTn id="4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 calcmode="lin" valueType="num">
                                      <p:cBhvr additive="base">
                                        <p:cTn id="5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5CFC2-FAA8-45D6-A9D5-764BAE1654D6}"/>
              </a:ext>
            </a:extLst>
          </p:cNvPr>
          <p:cNvSpPr>
            <a:spLocks noGrp="1"/>
          </p:cNvSpPr>
          <p:nvPr>
            <p:ph type="title"/>
          </p:nvPr>
        </p:nvSpPr>
        <p:spPr>
          <a:xfrm>
            <a:off x="495300" y="133351"/>
            <a:ext cx="10772257" cy="885824"/>
          </a:xfrm>
        </p:spPr>
        <p:txBody>
          <a:bodyPr/>
          <a:lstStyle/>
          <a:p>
            <a:r>
              <a:rPr lang="en-US" dirty="0"/>
              <a:t>USER MANAGED BACKUP – OFFLINE backup</a:t>
            </a:r>
          </a:p>
        </p:txBody>
      </p:sp>
      <p:sp>
        <p:nvSpPr>
          <p:cNvPr id="3" name="Content Placeholder 2">
            <a:extLst>
              <a:ext uri="{FF2B5EF4-FFF2-40B4-BE49-F238E27FC236}">
                <a16:creationId xmlns:a16="http://schemas.microsoft.com/office/drawing/2014/main" id="{96DC2B7D-305C-49DC-B06B-9F141405DAA5}"/>
              </a:ext>
            </a:extLst>
          </p:cNvPr>
          <p:cNvSpPr>
            <a:spLocks noGrp="1"/>
          </p:cNvSpPr>
          <p:nvPr>
            <p:ph idx="1"/>
          </p:nvPr>
        </p:nvSpPr>
        <p:spPr>
          <a:xfrm>
            <a:off x="400050" y="942976"/>
            <a:ext cx="11553825" cy="5781674"/>
          </a:xfrm>
        </p:spPr>
        <p:txBody>
          <a:bodyPr>
            <a:normAutofit fontScale="77500" lnSpcReduction="20000"/>
          </a:bodyPr>
          <a:lstStyle/>
          <a:p>
            <a:r>
              <a:rPr lang="en-US" dirty="0"/>
              <a:t>If what </a:t>
            </a:r>
            <a:r>
              <a:rPr lang="en-US"/>
              <a:t>you need </a:t>
            </a:r>
            <a:r>
              <a:rPr lang="en-US" dirty="0"/>
              <a:t>to perform an offline backup of one or more tablespaces, you should first notice that you cannot take the SYSTEM tablespace or a tablespace with any active UNDO segments offline. Also, when using this method always take into consideration whether the tablespace is completely self-contained before performing this type of backup, in other words, you should first check if any logical or physical dependencies between objects exist first:</a:t>
            </a:r>
          </a:p>
          <a:p>
            <a:pPr marL="0" indent="0">
              <a:buNone/>
            </a:pPr>
            <a:r>
              <a:rPr lang="en-US" dirty="0"/>
              <a:t>1. Identify all the datafiles associated with a tablespace by querying the DBA_DATA_FILES view:</a:t>
            </a:r>
          </a:p>
          <a:p>
            <a:r>
              <a:rPr lang="en-US" dirty="0"/>
              <a:t>SQL&gt; </a:t>
            </a:r>
            <a:r>
              <a:rPr lang="en-US" dirty="0">
                <a:solidFill>
                  <a:srgbClr val="FFFF00"/>
                </a:solidFill>
              </a:rPr>
              <a:t>SELECT </a:t>
            </a:r>
            <a:r>
              <a:rPr lang="en-US" dirty="0" err="1">
                <a:solidFill>
                  <a:srgbClr val="FFFF00"/>
                </a:solidFill>
              </a:rPr>
              <a:t>tablespace_name</a:t>
            </a:r>
            <a:r>
              <a:rPr lang="en-US" dirty="0">
                <a:solidFill>
                  <a:srgbClr val="FFFF00"/>
                </a:solidFill>
              </a:rPr>
              <a:t>, </a:t>
            </a:r>
            <a:r>
              <a:rPr lang="en-US" dirty="0" err="1">
                <a:solidFill>
                  <a:srgbClr val="FFFF00"/>
                </a:solidFill>
              </a:rPr>
              <a:t>file_name</a:t>
            </a:r>
            <a:r>
              <a:rPr lang="en-US" dirty="0">
                <a:solidFill>
                  <a:srgbClr val="FFFF00"/>
                </a:solidFill>
              </a:rPr>
              <a:t> FROM </a:t>
            </a:r>
            <a:r>
              <a:rPr lang="en-US" dirty="0" err="1">
                <a:solidFill>
                  <a:srgbClr val="FFFF00"/>
                </a:solidFill>
              </a:rPr>
              <a:t>sys.dba_data_files</a:t>
            </a:r>
            <a:r>
              <a:rPr lang="en-US" dirty="0">
                <a:solidFill>
                  <a:srgbClr val="FFFF00"/>
                </a:solidFill>
              </a:rPr>
              <a:t> WHERE </a:t>
            </a:r>
            <a:r>
              <a:rPr lang="en-US" dirty="0" err="1">
                <a:solidFill>
                  <a:srgbClr val="FFFF00"/>
                </a:solidFill>
              </a:rPr>
              <a:t>tablespace_name</a:t>
            </a:r>
            <a:r>
              <a:rPr lang="en-US" dirty="0">
                <a:solidFill>
                  <a:srgbClr val="FFFF00"/>
                </a:solidFill>
              </a:rPr>
              <a:t> = 'EXAMPLE’;</a:t>
            </a:r>
          </a:p>
          <a:p>
            <a:pPr marL="0" indent="0">
              <a:buNone/>
            </a:pPr>
            <a:r>
              <a:rPr lang="en-US" dirty="0"/>
              <a:t>2 Take the tablespace offline using the NORMAL priority if possible (this guarantees that no recovery will be necessary when bringing the tablespace online later):</a:t>
            </a:r>
          </a:p>
          <a:p>
            <a:r>
              <a:rPr lang="en-US" dirty="0"/>
              <a:t>SQL&gt; </a:t>
            </a:r>
            <a:r>
              <a:rPr lang="en-US" dirty="0">
                <a:solidFill>
                  <a:srgbClr val="FFFF00"/>
                </a:solidFill>
              </a:rPr>
              <a:t>ALTER TABLESPACE example OFFLINE NORMAL;</a:t>
            </a:r>
          </a:p>
          <a:p>
            <a:pPr marL="0" indent="0">
              <a:buNone/>
            </a:pPr>
            <a:r>
              <a:rPr lang="en-US" dirty="0"/>
              <a:t>3. Backup all datafiles related to the now offline tablespace via the OS:</a:t>
            </a:r>
          </a:p>
          <a:p>
            <a:r>
              <a:rPr lang="en-US" dirty="0"/>
              <a:t> </a:t>
            </a:r>
            <a:r>
              <a:rPr lang="en-US" dirty="0">
                <a:solidFill>
                  <a:srgbClr val="FFFF00"/>
                </a:solidFill>
              </a:rPr>
              <a:t>cp $ORACLE_BASE/</a:t>
            </a:r>
            <a:r>
              <a:rPr lang="en-US" dirty="0" err="1">
                <a:solidFill>
                  <a:srgbClr val="FFFF00"/>
                </a:solidFill>
              </a:rPr>
              <a:t>oradata</a:t>
            </a:r>
            <a:r>
              <a:rPr lang="en-US" dirty="0">
                <a:solidFill>
                  <a:srgbClr val="FFFF00"/>
                </a:solidFill>
              </a:rPr>
              <a:t>/cdb1/pdb1/example_01.dbf /stage/backup</a:t>
            </a:r>
          </a:p>
          <a:p>
            <a:pPr marL="0" indent="0">
              <a:buNone/>
            </a:pPr>
            <a:r>
              <a:rPr lang="en-US" dirty="0"/>
              <a:t>4. Bring the tablespaces online:</a:t>
            </a:r>
          </a:p>
          <a:p>
            <a:r>
              <a:rPr lang="en-US" dirty="0"/>
              <a:t>SQL&gt; </a:t>
            </a:r>
            <a:r>
              <a:rPr lang="en-US" dirty="0">
                <a:solidFill>
                  <a:srgbClr val="FFFF00"/>
                </a:solidFill>
              </a:rPr>
              <a:t>ALTER TABLESPACE example ONLINE;</a:t>
            </a:r>
          </a:p>
          <a:p>
            <a:pPr marL="0" indent="0">
              <a:buNone/>
            </a:pPr>
            <a:r>
              <a:rPr lang="en-US" dirty="0"/>
              <a:t>5. Archive all unachieved redo logs so any redo required to recover the tablespace is archived and executes a backup of all archive log files: </a:t>
            </a:r>
          </a:p>
          <a:p>
            <a:r>
              <a:rPr lang="en-US" dirty="0"/>
              <a:t>SQL&gt; </a:t>
            </a:r>
            <a:r>
              <a:rPr lang="en-US" dirty="0">
                <a:solidFill>
                  <a:srgbClr val="FFFF00"/>
                </a:solidFill>
              </a:rPr>
              <a:t>ALTER SYSTEM ARCHIVE LOG CURRENT; </a:t>
            </a:r>
          </a:p>
          <a:p>
            <a:r>
              <a:rPr lang="en-US" dirty="0">
                <a:solidFill>
                  <a:srgbClr val="FFFF00"/>
                </a:solidFill>
              </a:rPr>
              <a:t>cp $ORACLE_BASE/</a:t>
            </a:r>
            <a:r>
              <a:rPr lang="en-US" dirty="0" err="1">
                <a:solidFill>
                  <a:srgbClr val="FFFF00"/>
                </a:solidFill>
              </a:rPr>
              <a:t>fast_recovery_area</a:t>
            </a:r>
            <a:r>
              <a:rPr lang="en-US" dirty="0">
                <a:solidFill>
                  <a:srgbClr val="FFFF00"/>
                </a:solidFill>
              </a:rPr>
              <a:t>/*.arc /stage/backup</a:t>
            </a:r>
          </a:p>
        </p:txBody>
      </p:sp>
    </p:spTree>
    <p:extLst>
      <p:ext uri="{BB962C8B-B14F-4D97-AF65-F5344CB8AC3E}">
        <p14:creationId xmlns:p14="http://schemas.microsoft.com/office/powerpoint/2010/main" val="361200366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3A6FB-A6D7-408D-8C60-1CED88AFDE93}"/>
              </a:ext>
            </a:extLst>
          </p:cNvPr>
          <p:cNvSpPr>
            <a:spLocks noGrp="1"/>
          </p:cNvSpPr>
          <p:nvPr>
            <p:ph type="title"/>
          </p:nvPr>
        </p:nvSpPr>
        <p:spPr>
          <a:xfrm>
            <a:off x="913796" y="142875"/>
            <a:ext cx="10353761" cy="1326321"/>
          </a:xfrm>
        </p:spPr>
        <p:txBody>
          <a:bodyPr/>
          <a:lstStyle/>
          <a:p>
            <a:r>
              <a:rPr lang="en-US" dirty="0"/>
              <a:t>USER MANAGED backup - Hot backups</a:t>
            </a:r>
          </a:p>
        </p:txBody>
      </p:sp>
      <p:sp>
        <p:nvSpPr>
          <p:cNvPr id="3" name="Content Placeholder 2">
            <a:extLst>
              <a:ext uri="{FF2B5EF4-FFF2-40B4-BE49-F238E27FC236}">
                <a16:creationId xmlns:a16="http://schemas.microsoft.com/office/drawing/2014/main" id="{C17A3E93-DD86-4D10-AA20-57F778FC0CFF}"/>
              </a:ext>
            </a:extLst>
          </p:cNvPr>
          <p:cNvSpPr>
            <a:spLocks noGrp="1"/>
          </p:cNvSpPr>
          <p:nvPr>
            <p:ph idx="1"/>
          </p:nvPr>
        </p:nvSpPr>
        <p:spPr>
          <a:xfrm>
            <a:off x="913795" y="1469196"/>
            <a:ext cx="10353762" cy="4979229"/>
          </a:xfrm>
        </p:spPr>
        <p:txBody>
          <a:bodyPr>
            <a:normAutofit fontScale="85000" lnSpcReduction="10000"/>
          </a:bodyPr>
          <a:lstStyle/>
          <a:p>
            <a:r>
              <a:rPr lang="en-US" dirty="0"/>
              <a:t>Oracle introduced hot backups back in version 6, allowing us take hot backups of our database tablespaces without the need to shut down the database like in earlier versions.</a:t>
            </a:r>
          </a:p>
          <a:p>
            <a:r>
              <a:rPr lang="en-US" dirty="0"/>
              <a:t>Oracle gave us the ability to take hot backups of the entire database, making our life a little easier. When executing a user-managed backup online, Oracle stops recording checkpoints to all the associated datafiles.</a:t>
            </a:r>
          </a:p>
          <a:p>
            <a:r>
              <a:rPr lang="en-US" dirty="0"/>
              <a:t>Let's take a deeper look at what's happening internally in the database when we use the </a:t>
            </a:r>
            <a:r>
              <a:rPr lang="en-US" b="1" dirty="0">
                <a:solidFill>
                  <a:schemeClr val="tx2"/>
                </a:solidFill>
              </a:rPr>
              <a:t>BEGIN BACKUP</a:t>
            </a:r>
            <a:r>
              <a:rPr lang="en-US" dirty="0">
                <a:solidFill>
                  <a:schemeClr val="tx2"/>
                </a:solidFill>
              </a:rPr>
              <a:t> </a:t>
            </a:r>
            <a:r>
              <a:rPr lang="en-US" dirty="0"/>
              <a:t>option: • </a:t>
            </a:r>
          </a:p>
          <a:p>
            <a:r>
              <a:rPr lang="en-US" dirty="0"/>
              <a:t>A hot backup flag in the datafiles header is set </a:t>
            </a:r>
          </a:p>
          <a:p>
            <a:r>
              <a:rPr lang="en-US" dirty="0"/>
              <a:t> A checkpoint occurs, flashing all dirty blocks from memory to disk, synchronizing all the datafile headers to the same SCN, and </a:t>
            </a:r>
            <a:r>
              <a:rPr lang="en-US" b="1" dirty="0"/>
              <a:t>freezing the headers for consistency</a:t>
            </a:r>
            <a:r>
              <a:rPr lang="en-US" dirty="0"/>
              <a:t>, protection, and recoverability</a:t>
            </a:r>
          </a:p>
          <a:p>
            <a:r>
              <a:rPr lang="en-US" dirty="0"/>
              <a:t>Hot backups (inconsistent backups due to fractured data blocks) can be made to the whole database, a tablespace or even at container level and it will require a recovery process after the backup is restored. Due to this, it is very important to always ensure that all your archive log files are being backed up.</a:t>
            </a:r>
          </a:p>
        </p:txBody>
      </p:sp>
    </p:spTree>
    <p:extLst>
      <p:ext uri="{BB962C8B-B14F-4D97-AF65-F5344CB8AC3E}">
        <p14:creationId xmlns:p14="http://schemas.microsoft.com/office/powerpoint/2010/main" val="1817035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C0DA-6E35-4EF1-A719-178BFEF2DDEA}"/>
              </a:ext>
            </a:extLst>
          </p:cNvPr>
          <p:cNvSpPr>
            <a:spLocks noGrp="1"/>
          </p:cNvSpPr>
          <p:nvPr>
            <p:ph type="title"/>
          </p:nvPr>
        </p:nvSpPr>
        <p:spPr>
          <a:xfrm>
            <a:off x="913796" y="257175"/>
            <a:ext cx="10353761" cy="1326321"/>
          </a:xfrm>
        </p:spPr>
        <p:txBody>
          <a:bodyPr>
            <a:normAutofit/>
          </a:bodyPr>
          <a:lstStyle/>
          <a:p>
            <a:r>
              <a:rPr lang="en-US" sz="3600" dirty="0"/>
              <a:t>Hot backups </a:t>
            </a:r>
          </a:p>
        </p:txBody>
      </p:sp>
      <p:graphicFrame>
        <p:nvGraphicFramePr>
          <p:cNvPr id="5" name="Content Placeholder 2">
            <a:extLst>
              <a:ext uri="{FF2B5EF4-FFF2-40B4-BE49-F238E27FC236}">
                <a16:creationId xmlns:a16="http://schemas.microsoft.com/office/drawing/2014/main" id="{CB3928E4-E3A8-42D8-8FB7-9D161022A534}"/>
              </a:ext>
            </a:extLst>
          </p:cNvPr>
          <p:cNvGraphicFramePr>
            <a:graphicFrameLocks noGrp="1"/>
          </p:cNvGraphicFramePr>
          <p:nvPr>
            <p:ph idx="1"/>
          </p:nvPr>
        </p:nvGraphicFramePr>
        <p:xfrm>
          <a:off x="913795" y="2096064"/>
          <a:ext cx="10353762" cy="3695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64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1533B-1D66-40C8-94F9-0FBEDC3FAAAE}"/>
              </a:ext>
            </a:extLst>
          </p:cNvPr>
          <p:cNvSpPr>
            <a:spLocks noGrp="1"/>
          </p:cNvSpPr>
          <p:nvPr>
            <p:ph type="title"/>
          </p:nvPr>
        </p:nvSpPr>
        <p:spPr>
          <a:xfrm>
            <a:off x="913796" y="209550"/>
            <a:ext cx="10353761" cy="1326321"/>
          </a:xfrm>
        </p:spPr>
        <p:txBody>
          <a:bodyPr/>
          <a:lstStyle/>
          <a:p>
            <a:r>
              <a:rPr lang="en-US" dirty="0"/>
              <a:t>Hot backup of a whole database</a:t>
            </a:r>
          </a:p>
        </p:txBody>
      </p:sp>
      <p:sp>
        <p:nvSpPr>
          <p:cNvPr id="3" name="Content Placeholder 2">
            <a:extLst>
              <a:ext uri="{FF2B5EF4-FFF2-40B4-BE49-F238E27FC236}">
                <a16:creationId xmlns:a16="http://schemas.microsoft.com/office/drawing/2014/main" id="{0E6034D5-B202-4C1A-8A21-89C48825A9DE}"/>
              </a:ext>
            </a:extLst>
          </p:cNvPr>
          <p:cNvSpPr>
            <a:spLocks noGrp="1"/>
          </p:cNvSpPr>
          <p:nvPr>
            <p:ph idx="1"/>
          </p:nvPr>
        </p:nvSpPr>
        <p:spPr>
          <a:xfrm>
            <a:off x="913795" y="1724025"/>
            <a:ext cx="10353762" cy="4733925"/>
          </a:xfrm>
        </p:spPr>
        <p:txBody>
          <a:bodyPr>
            <a:normAutofit fontScale="77500" lnSpcReduction="20000"/>
          </a:bodyPr>
          <a:lstStyle/>
          <a:p>
            <a:r>
              <a:rPr lang="en-US" dirty="0"/>
              <a:t>Place your entire database in backup mode: </a:t>
            </a:r>
          </a:p>
          <a:p>
            <a:r>
              <a:rPr lang="en-US" dirty="0"/>
              <a:t>SQL&gt; </a:t>
            </a:r>
            <a:r>
              <a:rPr lang="en-US" dirty="0">
                <a:solidFill>
                  <a:schemeClr val="accent1"/>
                </a:solidFill>
              </a:rPr>
              <a:t>ALTER DATABASE BEGIN BACKUP;</a:t>
            </a:r>
          </a:p>
          <a:p>
            <a:r>
              <a:rPr lang="en-US" dirty="0"/>
              <a:t>Backup all datafiles and the PFILE or SPFILE strings. This backup is a simple physical copy of files at the OS level: </a:t>
            </a:r>
          </a:p>
          <a:p>
            <a:r>
              <a:rPr lang="en-US" dirty="0">
                <a:solidFill>
                  <a:schemeClr val="accent1"/>
                </a:solidFill>
              </a:rPr>
              <a:t> cp $ORACLE_BASE/</a:t>
            </a:r>
            <a:r>
              <a:rPr lang="en-US" dirty="0" err="1">
                <a:solidFill>
                  <a:schemeClr val="accent1"/>
                </a:solidFill>
              </a:rPr>
              <a:t>oradata</a:t>
            </a:r>
            <a:r>
              <a:rPr lang="en-US" dirty="0">
                <a:solidFill>
                  <a:schemeClr val="accent1"/>
                </a:solidFill>
              </a:rPr>
              <a:t>/cdb1/*.</a:t>
            </a:r>
            <a:r>
              <a:rPr lang="en-US" dirty="0" err="1">
                <a:solidFill>
                  <a:schemeClr val="accent1"/>
                </a:solidFill>
              </a:rPr>
              <a:t>dbf</a:t>
            </a:r>
            <a:r>
              <a:rPr lang="en-US" dirty="0">
                <a:solidFill>
                  <a:schemeClr val="accent1"/>
                </a:solidFill>
              </a:rPr>
              <a:t> /stage/backup</a:t>
            </a:r>
          </a:p>
          <a:p>
            <a:r>
              <a:rPr lang="en-US" dirty="0"/>
              <a:t>Take the database out of backup mode:</a:t>
            </a:r>
          </a:p>
          <a:p>
            <a:r>
              <a:rPr lang="da-DK" dirty="0"/>
              <a:t>SQL&gt; </a:t>
            </a:r>
            <a:r>
              <a:rPr lang="da-DK" dirty="0">
                <a:solidFill>
                  <a:schemeClr val="accent1"/>
                </a:solidFill>
              </a:rPr>
              <a:t>ALTER DATABASE END BACKUP;</a:t>
            </a:r>
          </a:p>
          <a:p>
            <a:r>
              <a:rPr lang="en-US" dirty="0"/>
              <a:t>Archive all unachieved redo logs so any redo required to recover the database is archived:</a:t>
            </a:r>
          </a:p>
          <a:p>
            <a:r>
              <a:rPr lang="en-US" dirty="0"/>
              <a:t>SQL&gt; </a:t>
            </a:r>
            <a:r>
              <a:rPr lang="en-US" dirty="0">
                <a:solidFill>
                  <a:schemeClr val="accent1"/>
                </a:solidFill>
              </a:rPr>
              <a:t>ALTER SYSTEM ARCHIVE LOG CURRENT;</a:t>
            </a:r>
          </a:p>
          <a:p>
            <a:r>
              <a:rPr lang="en-US" dirty="0"/>
              <a:t>Make a backup of all archived redo log files (OS level):</a:t>
            </a:r>
          </a:p>
          <a:p>
            <a:r>
              <a:rPr lang="en-US" dirty="0">
                <a:solidFill>
                  <a:schemeClr val="accent1"/>
                </a:solidFill>
              </a:rPr>
              <a:t>cp $ORACLE_BASE/</a:t>
            </a:r>
            <a:r>
              <a:rPr lang="en-US" dirty="0" err="1">
                <a:solidFill>
                  <a:schemeClr val="accent1"/>
                </a:solidFill>
              </a:rPr>
              <a:t>fast_recovery_area</a:t>
            </a:r>
            <a:r>
              <a:rPr lang="en-US" dirty="0">
                <a:solidFill>
                  <a:schemeClr val="accent1"/>
                </a:solidFill>
              </a:rPr>
              <a:t>/*.arc /stage/backup</a:t>
            </a:r>
          </a:p>
          <a:p>
            <a:r>
              <a:rPr lang="en-US" dirty="0"/>
              <a:t>Create a copy of your control file using the ALTER DATABASE statement:</a:t>
            </a:r>
          </a:p>
          <a:p>
            <a:r>
              <a:rPr lang="en-US" dirty="0"/>
              <a:t>SQL&gt; </a:t>
            </a:r>
            <a:r>
              <a:rPr lang="en-US" dirty="0">
                <a:solidFill>
                  <a:schemeClr val="accent1"/>
                </a:solidFill>
              </a:rPr>
              <a:t>ALTER DATABASE BACKUP CONTROLFILE TO'/stage/backup/</a:t>
            </a:r>
            <a:r>
              <a:rPr lang="en-US" dirty="0" err="1">
                <a:solidFill>
                  <a:schemeClr val="accent1"/>
                </a:solidFill>
              </a:rPr>
              <a:t>control.ctf</a:t>
            </a:r>
            <a:r>
              <a:rPr lang="en-US" dirty="0">
                <a:solidFill>
                  <a:schemeClr val="accent1"/>
                </a:solidFill>
              </a:rPr>
              <a:t>';</a:t>
            </a:r>
          </a:p>
        </p:txBody>
      </p:sp>
    </p:spTree>
    <p:extLst>
      <p:ext uri="{BB962C8B-B14F-4D97-AF65-F5344CB8AC3E}">
        <p14:creationId xmlns:p14="http://schemas.microsoft.com/office/powerpoint/2010/main" val="917549939"/>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8FBB2-742A-4813-935B-6E0DE9435C8E}"/>
              </a:ext>
            </a:extLst>
          </p:cNvPr>
          <p:cNvSpPr>
            <a:spLocks noGrp="1"/>
          </p:cNvSpPr>
          <p:nvPr>
            <p:ph type="title"/>
          </p:nvPr>
        </p:nvSpPr>
        <p:spPr>
          <a:xfrm>
            <a:off x="913795" y="114300"/>
            <a:ext cx="10353761" cy="1326321"/>
          </a:xfrm>
        </p:spPr>
        <p:txBody>
          <a:bodyPr/>
          <a:lstStyle/>
          <a:p>
            <a:r>
              <a:rPr lang="en-US" dirty="0"/>
              <a:t>Hot backup of tablespaces</a:t>
            </a:r>
          </a:p>
        </p:txBody>
      </p:sp>
      <p:sp>
        <p:nvSpPr>
          <p:cNvPr id="3" name="Content Placeholder 2">
            <a:extLst>
              <a:ext uri="{FF2B5EF4-FFF2-40B4-BE49-F238E27FC236}">
                <a16:creationId xmlns:a16="http://schemas.microsoft.com/office/drawing/2014/main" id="{816D90ED-EED9-48D0-B776-DFB4D5DEE430}"/>
              </a:ext>
            </a:extLst>
          </p:cNvPr>
          <p:cNvSpPr>
            <a:spLocks noGrp="1"/>
          </p:cNvSpPr>
          <p:nvPr>
            <p:ph idx="1"/>
          </p:nvPr>
        </p:nvSpPr>
        <p:spPr>
          <a:xfrm>
            <a:off x="913795" y="1695450"/>
            <a:ext cx="10353762" cy="4552950"/>
          </a:xfrm>
        </p:spPr>
        <p:txBody>
          <a:bodyPr>
            <a:normAutofit fontScale="92500" lnSpcReduction="10000"/>
          </a:bodyPr>
          <a:lstStyle/>
          <a:p>
            <a:r>
              <a:rPr lang="en-US" dirty="0"/>
              <a:t>To do an online backup of one or more tablespaces, you just need to follow these simple steps:</a:t>
            </a:r>
          </a:p>
          <a:p>
            <a:pPr marL="457200" indent="-457200">
              <a:buAutoNum type="arabicPeriod"/>
            </a:pPr>
            <a:r>
              <a:rPr lang="en-US" dirty="0"/>
              <a:t>Identify all the datafiles associated with the tablespace by querying the </a:t>
            </a:r>
            <a:r>
              <a:rPr lang="en-US" dirty="0" err="1"/>
              <a:t>dba_data_files</a:t>
            </a:r>
            <a:r>
              <a:rPr lang="en-US" dirty="0"/>
              <a:t> view: </a:t>
            </a:r>
          </a:p>
          <a:p>
            <a:pPr marL="0" indent="0">
              <a:buNone/>
            </a:pPr>
            <a:r>
              <a:rPr lang="en-US" dirty="0">
                <a:solidFill>
                  <a:schemeClr val="accent4">
                    <a:lumMod val="60000"/>
                    <a:lumOff val="40000"/>
                  </a:schemeClr>
                </a:solidFill>
              </a:rPr>
              <a:t>     SQL&gt; SELECT </a:t>
            </a:r>
            <a:r>
              <a:rPr lang="en-US" dirty="0" err="1">
                <a:solidFill>
                  <a:schemeClr val="accent4">
                    <a:lumMod val="60000"/>
                    <a:lumOff val="40000"/>
                  </a:schemeClr>
                </a:solidFill>
              </a:rPr>
              <a:t>tablespace_name</a:t>
            </a:r>
            <a:r>
              <a:rPr lang="en-US" dirty="0">
                <a:solidFill>
                  <a:schemeClr val="accent4">
                    <a:lumMod val="60000"/>
                    <a:lumOff val="40000"/>
                  </a:schemeClr>
                </a:solidFill>
              </a:rPr>
              <a:t>, </a:t>
            </a:r>
            <a:r>
              <a:rPr lang="en-US" dirty="0" err="1">
                <a:solidFill>
                  <a:schemeClr val="accent4">
                    <a:lumMod val="60000"/>
                    <a:lumOff val="40000"/>
                  </a:schemeClr>
                </a:solidFill>
              </a:rPr>
              <a:t>file_name</a:t>
            </a:r>
            <a:r>
              <a:rPr lang="en-US" dirty="0">
                <a:solidFill>
                  <a:schemeClr val="accent4">
                    <a:lumMod val="60000"/>
                    <a:lumOff val="40000"/>
                  </a:schemeClr>
                </a:solidFill>
              </a:rPr>
              <a:t> 2 FROM </a:t>
            </a:r>
            <a:r>
              <a:rPr lang="en-US" dirty="0" err="1">
                <a:solidFill>
                  <a:schemeClr val="accent4">
                    <a:lumMod val="60000"/>
                    <a:lumOff val="40000"/>
                  </a:schemeClr>
                </a:solidFill>
              </a:rPr>
              <a:t>sys.dba_data_files</a:t>
            </a:r>
            <a:r>
              <a:rPr lang="en-US" dirty="0">
                <a:solidFill>
                  <a:schemeClr val="accent4">
                    <a:lumMod val="60000"/>
                    <a:lumOff val="40000"/>
                  </a:schemeClr>
                </a:solidFill>
              </a:rPr>
              <a:t> 3 WHERE        </a:t>
            </a:r>
            <a:r>
              <a:rPr lang="en-US" dirty="0" err="1">
                <a:solidFill>
                  <a:schemeClr val="accent4">
                    <a:lumMod val="60000"/>
                    <a:lumOff val="40000"/>
                  </a:schemeClr>
                </a:solidFill>
              </a:rPr>
              <a:t>tablespace_name</a:t>
            </a:r>
            <a:r>
              <a:rPr lang="en-US" dirty="0">
                <a:solidFill>
                  <a:schemeClr val="accent4">
                    <a:lumMod val="60000"/>
                    <a:lumOff val="40000"/>
                  </a:schemeClr>
                </a:solidFill>
              </a:rPr>
              <a:t> = 'EXAMPLE’;</a:t>
            </a:r>
          </a:p>
          <a:p>
            <a:pPr marL="0" indent="0">
              <a:buNone/>
            </a:pPr>
            <a:r>
              <a:rPr lang="en-US" dirty="0"/>
              <a:t>2. Place the tablespace in backup mode: </a:t>
            </a:r>
          </a:p>
          <a:p>
            <a:pPr marL="0" indent="0">
              <a:buNone/>
            </a:pPr>
            <a:r>
              <a:rPr lang="en-US" dirty="0">
                <a:solidFill>
                  <a:schemeClr val="accent4">
                    <a:lumMod val="60000"/>
                    <a:lumOff val="40000"/>
                  </a:schemeClr>
                </a:solidFill>
              </a:rPr>
              <a:t>SQL&gt; ALTER TABLESPACE example BEGIN BACKUP;</a:t>
            </a:r>
          </a:p>
          <a:p>
            <a:pPr marL="0" indent="0">
              <a:buNone/>
            </a:pPr>
            <a:r>
              <a:rPr lang="en-US" dirty="0">
                <a:solidFill>
                  <a:schemeClr val="accent4">
                    <a:lumMod val="60000"/>
                    <a:lumOff val="40000"/>
                  </a:schemeClr>
                </a:solidFill>
              </a:rPr>
              <a:t>cp $ORACLE_BASE/</a:t>
            </a:r>
            <a:r>
              <a:rPr lang="en-US" dirty="0" err="1">
                <a:solidFill>
                  <a:schemeClr val="accent4">
                    <a:lumMod val="60000"/>
                    <a:lumOff val="40000"/>
                  </a:schemeClr>
                </a:solidFill>
              </a:rPr>
              <a:t>oradata</a:t>
            </a:r>
            <a:r>
              <a:rPr lang="en-US" dirty="0">
                <a:solidFill>
                  <a:schemeClr val="accent4">
                    <a:lumMod val="60000"/>
                    <a:lumOff val="40000"/>
                  </a:schemeClr>
                </a:solidFill>
              </a:rPr>
              <a:t>/cdb1/pdb1/example_01.dbf /stage/backup</a:t>
            </a:r>
          </a:p>
          <a:p>
            <a:pPr marL="0" indent="0">
              <a:buNone/>
            </a:pPr>
            <a:r>
              <a:rPr lang="en-US" dirty="0"/>
              <a:t>3. Place the tablespace back in the normal mode:</a:t>
            </a:r>
          </a:p>
          <a:p>
            <a:pPr marL="0" indent="0">
              <a:buNone/>
            </a:pPr>
            <a:r>
              <a:rPr lang="en-US" dirty="0">
                <a:solidFill>
                  <a:schemeClr val="accent4">
                    <a:lumMod val="60000"/>
                    <a:lumOff val="40000"/>
                  </a:schemeClr>
                </a:solidFill>
              </a:rPr>
              <a:t> SQL&gt; ALTER TABLESPACE example END BACKUP;</a:t>
            </a:r>
          </a:p>
          <a:p>
            <a:pPr marL="0" indent="0">
              <a:buNone/>
            </a:pPr>
            <a:endParaRPr lang="en-US" dirty="0"/>
          </a:p>
        </p:txBody>
      </p:sp>
    </p:spTree>
    <p:extLst>
      <p:ext uri="{BB962C8B-B14F-4D97-AF65-F5344CB8AC3E}">
        <p14:creationId xmlns:p14="http://schemas.microsoft.com/office/powerpoint/2010/main" val="24626808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E9FEF-0B21-419B-8D35-F49709B03A7F}"/>
              </a:ext>
            </a:extLst>
          </p:cNvPr>
          <p:cNvSpPr>
            <a:spLocks noGrp="1"/>
          </p:cNvSpPr>
          <p:nvPr>
            <p:ph type="title"/>
          </p:nvPr>
        </p:nvSpPr>
        <p:spPr>
          <a:xfrm>
            <a:off x="913795" y="0"/>
            <a:ext cx="10353761" cy="1326321"/>
          </a:xfrm>
        </p:spPr>
        <p:txBody>
          <a:bodyPr/>
          <a:lstStyle/>
          <a:p>
            <a:r>
              <a:rPr lang="en-US" dirty="0"/>
              <a:t>Control file backup</a:t>
            </a:r>
          </a:p>
        </p:txBody>
      </p:sp>
      <p:sp>
        <p:nvSpPr>
          <p:cNvPr id="3" name="Content Placeholder 2">
            <a:extLst>
              <a:ext uri="{FF2B5EF4-FFF2-40B4-BE49-F238E27FC236}">
                <a16:creationId xmlns:a16="http://schemas.microsoft.com/office/drawing/2014/main" id="{2C65169D-DFD7-4B2F-A44C-F64F4AC25686}"/>
              </a:ext>
            </a:extLst>
          </p:cNvPr>
          <p:cNvSpPr>
            <a:spLocks noGrp="1"/>
          </p:cNvSpPr>
          <p:nvPr>
            <p:ph idx="1"/>
          </p:nvPr>
        </p:nvSpPr>
        <p:spPr>
          <a:xfrm>
            <a:off x="466726" y="1638301"/>
            <a:ext cx="11210924" cy="4810124"/>
          </a:xfrm>
        </p:spPr>
        <p:txBody>
          <a:bodyPr>
            <a:normAutofit/>
          </a:bodyPr>
          <a:lstStyle/>
          <a:p>
            <a:r>
              <a:rPr lang="en-US" dirty="0"/>
              <a:t>Having a valid backup of the control file of a database is crucial for the successful recovery of a database. Due to this we will take a closer look at the available methods to make a user-managed backup of a control file.</a:t>
            </a:r>
          </a:p>
          <a:p>
            <a:pPr marL="0" indent="0">
              <a:buNone/>
            </a:pPr>
            <a:r>
              <a:rPr lang="en-US" b="1" dirty="0">
                <a:solidFill>
                  <a:srgbClr val="FFFF00"/>
                </a:solidFill>
              </a:rPr>
              <a:t>1. Binary backup:</a:t>
            </a:r>
            <a:r>
              <a:rPr lang="en-US" dirty="0">
                <a:solidFill>
                  <a:srgbClr val="FFFF00"/>
                </a:solidFill>
              </a:rPr>
              <a:t> </a:t>
            </a:r>
            <a:r>
              <a:rPr lang="en-US" dirty="0"/>
              <a:t>You can generate a binary copy of the control file via a simple SQL statement.</a:t>
            </a:r>
            <a:endParaRPr lang="en-US" b="1" dirty="0"/>
          </a:p>
          <a:p>
            <a:r>
              <a:rPr lang="en-US" dirty="0">
                <a:solidFill>
                  <a:srgbClr val="00B0F0"/>
                </a:solidFill>
              </a:rPr>
              <a:t>ALTER DATABASE BACKUP CONTROLFILE TO ‘[</a:t>
            </a:r>
            <a:r>
              <a:rPr lang="en-US" dirty="0" err="1">
                <a:solidFill>
                  <a:srgbClr val="00B0F0"/>
                </a:solidFill>
              </a:rPr>
              <a:t>filename_including_location</a:t>
            </a:r>
            <a:r>
              <a:rPr lang="en-US" dirty="0">
                <a:solidFill>
                  <a:srgbClr val="00B0F0"/>
                </a:solidFill>
              </a:rPr>
              <a:t>] ‘;</a:t>
            </a:r>
          </a:p>
          <a:p>
            <a:pPr marL="0" indent="0">
              <a:buNone/>
            </a:pPr>
            <a:r>
              <a:rPr lang="en-US" b="1" dirty="0">
                <a:solidFill>
                  <a:srgbClr val="FFFF00"/>
                </a:solidFill>
              </a:rPr>
              <a:t>2. Text file backup:</a:t>
            </a:r>
            <a:r>
              <a:rPr lang="en-US" dirty="0">
                <a:solidFill>
                  <a:srgbClr val="FFFF00"/>
                </a:solidFill>
              </a:rPr>
              <a:t> </a:t>
            </a:r>
            <a:r>
              <a:rPr lang="en-US" dirty="0"/>
              <a:t>You can generate a text file that contains a CREATE CONTROLFILE statement based on the current control file in use by the database via a simple SQL statement that can be executed on a database in the MOUNT or OPEN state.</a:t>
            </a:r>
            <a:endParaRPr lang="en-US" b="1" dirty="0"/>
          </a:p>
          <a:p>
            <a:r>
              <a:rPr lang="en-US" dirty="0">
                <a:solidFill>
                  <a:srgbClr val="00B0F0"/>
                </a:solidFill>
              </a:rPr>
              <a:t>ALTER DATABASE BACKUP CONTROLFILE TO TRACE AS '/stage/backup/</a:t>
            </a:r>
            <a:r>
              <a:rPr lang="en-US" dirty="0" err="1">
                <a:solidFill>
                  <a:srgbClr val="00B0F0"/>
                </a:solidFill>
              </a:rPr>
              <a:t>ctlf.sql</a:t>
            </a:r>
            <a:r>
              <a:rPr lang="en-US" dirty="0">
                <a:solidFill>
                  <a:srgbClr val="00B0F0"/>
                </a:solidFill>
              </a:rPr>
              <a:t>';</a:t>
            </a:r>
            <a:endParaRPr lang="en-US" b="1" dirty="0">
              <a:solidFill>
                <a:srgbClr val="00B0F0"/>
              </a:solidFill>
            </a:endParaRPr>
          </a:p>
        </p:txBody>
      </p:sp>
    </p:spTree>
    <p:extLst>
      <p:ext uri="{BB962C8B-B14F-4D97-AF65-F5344CB8AC3E}">
        <p14:creationId xmlns:p14="http://schemas.microsoft.com/office/powerpoint/2010/main" val="3186255485"/>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22F67-4645-413F-9AAC-8FDA240E4868}"/>
              </a:ext>
            </a:extLst>
          </p:cNvPr>
          <p:cNvSpPr>
            <a:spLocks noGrp="1"/>
          </p:cNvSpPr>
          <p:nvPr>
            <p:ph type="title"/>
          </p:nvPr>
        </p:nvSpPr>
        <p:spPr>
          <a:xfrm>
            <a:off x="147076" y="85726"/>
            <a:ext cx="11887200" cy="1085850"/>
          </a:xfrm>
        </p:spPr>
        <p:txBody>
          <a:bodyPr/>
          <a:lstStyle/>
          <a:p>
            <a:r>
              <a:rPr lang="en-US" dirty="0"/>
              <a:t>Recovering from a user-managed backup</a:t>
            </a:r>
          </a:p>
        </p:txBody>
      </p:sp>
      <p:sp>
        <p:nvSpPr>
          <p:cNvPr id="3" name="Content Placeholder 2">
            <a:extLst>
              <a:ext uri="{FF2B5EF4-FFF2-40B4-BE49-F238E27FC236}">
                <a16:creationId xmlns:a16="http://schemas.microsoft.com/office/drawing/2014/main" id="{B6966295-5F42-46C3-A096-E8FB9C1545FF}"/>
              </a:ext>
            </a:extLst>
          </p:cNvPr>
          <p:cNvSpPr>
            <a:spLocks noGrp="1"/>
          </p:cNvSpPr>
          <p:nvPr>
            <p:ph idx="1"/>
          </p:nvPr>
        </p:nvSpPr>
        <p:spPr>
          <a:xfrm>
            <a:off x="266700" y="1171575"/>
            <a:ext cx="11506199" cy="5438775"/>
          </a:xfrm>
        </p:spPr>
        <p:txBody>
          <a:bodyPr>
            <a:normAutofit fontScale="85000" lnSpcReduction="20000"/>
          </a:bodyPr>
          <a:lstStyle/>
          <a:p>
            <a:r>
              <a:rPr lang="en-US" dirty="0"/>
              <a:t>When recovering a database in the ARCHIVELOG mode, you can do it using an online or offline backup, depending on the type of backup strategy you are currently using in your environment. When recovering from a user-managed backup, you will be able to recover the database up to the point that the failure occurred, and you can choose to recover the database to a specific point in time based on date and time or using a SCN.</a:t>
            </a:r>
          </a:p>
          <a:p>
            <a:r>
              <a:rPr lang="en-US" dirty="0"/>
              <a:t>When doing a recovery of a database in the </a:t>
            </a:r>
            <a:r>
              <a:rPr lang="en-US" b="1" dirty="0"/>
              <a:t>ARCHIVELOG </a:t>
            </a:r>
            <a:r>
              <a:rPr lang="en-US" dirty="0"/>
              <a:t>mode you will be also able to make a recovery of:</a:t>
            </a:r>
          </a:p>
          <a:p>
            <a:r>
              <a:rPr lang="en-US" b="1" dirty="0"/>
              <a:t>Datafiles, Tablespaces </a:t>
            </a:r>
            <a:r>
              <a:rPr lang="en-US" dirty="0"/>
              <a:t>Or the </a:t>
            </a:r>
            <a:r>
              <a:rPr lang="en-US" sz="2100" b="1" dirty="0"/>
              <a:t>entire database.</a:t>
            </a:r>
          </a:p>
          <a:p>
            <a:r>
              <a:rPr lang="en-US" dirty="0"/>
              <a:t>To perform a </a:t>
            </a:r>
            <a:r>
              <a:rPr lang="en-US" sz="2400" b="1" dirty="0">
                <a:solidFill>
                  <a:srgbClr val="FFFF00"/>
                </a:solidFill>
              </a:rPr>
              <a:t>full database recovery</a:t>
            </a:r>
            <a:r>
              <a:rPr lang="en-US" sz="2400" b="1" dirty="0"/>
              <a:t> </a:t>
            </a:r>
            <a:r>
              <a:rPr lang="en-US" dirty="0"/>
              <a:t>from a backup of a database in the </a:t>
            </a:r>
            <a:r>
              <a:rPr lang="en-US" b="1" dirty="0"/>
              <a:t>ARCHIVELOG mode</a:t>
            </a:r>
            <a:r>
              <a:rPr lang="en-US" dirty="0"/>
              <a:t>, follow these steps:</a:t>
            </a:r>
          </a:p>
          <a:p>
            <a:pPr marL="0" indent="0">
              <a:buNone/>
            </a:pPr>
            <a:r>
              <a:rPr lang="en-US" dirty="0"/>
              <a:t>1. </a:t>
            </a:r>
            <a:r>
              <a:rPr lang="en-US" dirty="0">
                <a:solidFill>
                  <a:srgbClr val="FFFF00"/>
                </a:solidFill>
              </a:rPr>
              <a:t>Restore all the database </a:t>
            </a:r>
            <a:r>
              <a:rPr lang="en-US" dirty="0"/>
              <a:t>datafiles from your backup.</a:t>
            </a:r>
          </a:p>
          <a:p>
            <a:pPr marL="0" indent="0">
              <a:buNone/>
            </a:pPr>
            <a:r>
              <a:rPr lang="en-US" dirty="0"/>
              <a:t>2. </a:t>
            </a:r>
            <a:r>
              <a:rPr lang="en-US" dirty="0">
                <a:solidFill>
                  <a:srgbClr val="FFFF00"/>
                </a:solidFill>
              </a:rPr>
              <a:t>Restore all the backed up archived redo logs</a:t>
            </a:r>
            <a:r>
              <a:rPr lang="en-US" dirty="0"/>
              <a:t>.</a:t>
            </a:r>
          </a:p>
          <a:p>
            <a:pPr marL="0" indent="0">
              <a:buNone/>
            </a:pPr>
            <a:r>
              <a:rPr lang="en-US" dirty="0"/>
              <a:t>3. Mount the database (using the </a:t>
            </a:r>
            <a:r>
              <a:rPr lang="en-US" dirty="0">
                <a:solidFill>
                  <a:srgbClr val="FFFF00"/>
                </a:solidFill>
              </a:rPr>
              <a:t>STARTUP MOUNT </a:t>
            </a:r>
            <a:r>
              <a:rPr lang="en-US" dirty="0"/>
              <a:t>command).</a:t>
            </a:r>
          </a:p>
          <a:p>
            <a:pPr marL="0" indent="0">
              <a:buNone/>
            </a:pPr>
            <a:r>
              <a:rPr lang="en-US" dirty="0"/>
              <a:t>4. Recover the database (using the </a:t>
            </a:r>
            <a:r>
              <a:rPr lang="en-US" dirty="0">
                <a:solidFill>
                  <a:srgbClr val="FFFF00"/>
                </a:solidFill>
              </a:rPr>
              <a:t>RECOVER DATABASE </a:t>
            </a:r>
            <a:r>
              <a:rPr lang="en-US" dirty="0"/>
              <a:t>command).</a:t>
            </a:r>
          </a:p>
          <a:p>
            <a:pPr marL="0" indent="0">
              <a:buNone/>
            </a:pPr>
            <a:r>
              <a:rPr lang="en-US" dirty="0"/>
              <a:t>5. Oracle will prompt you to apply redo from the archived redo logs. </a:t>
            </a:r>
            <a:r>
              <a:rPr lang="en-US" dirty="0">
                <a:solidFill>
                  <a:srgbClr val="FFFF00"/>
                </a:solidFill>
              </a:rPr>
              <a:t>Simply enter AUTO </a:t>
            </a:r>
            <a:r>
              <a:rPr lang="en-US" dirty="0"/>
              <a:t>at the prompt and it will automatically apply all the redo logs for you.</a:t>
            </a:r>
          </a:p>
          <a:p>
            <a:pPr marL="0" indent="0">
              <a:buNone/>
            </a:pPr>
            <a:r>
              <a:rPr lang="en-US" dirty="0"/>
              <a:t>6. Once all the redo logs are applied, open the recovered database (using the </a:t>
            </a:r>
            <a:r>
              <a:rPr lang="en-US" dirty="0">
                <a:solidFill>
                  <a:srgbClr val="FFFF00"/>
                </a:solidFill>
              </a:rPr>
              <a:t>ALTER DATABASE OPEN </a:t>
            </a:r>
            <a:r>
              <a:rPr lang="en-US" dirty="0"/>
              <a:t>command).</a:t>
            </a:r>
          </a:p>
        </p:txBody>
      </p:sp>
    </p:spTree>
    <p:extLst>
      <p:ext uri="{BB962C8B-B14F-4D97-AF65-F5344CB8AC3E}">
        <p14:creationId xmlns:p14="http://schemas.microsoft.com/office/powerpoint/2010/main" val="4168540130"/>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B7D460-A1F6-4D05-960C-97577CDA6129}"/>
              </a:ext>
            </a:extLst>
          </p:cNvPr>
          <p:cNvSpPr>
            <a:spLocks noGrp="1"/>
          </p:cNvSpPr>
          <p:nvPr>
            <p:ph idx="1"/>
          </p:nvPr>
        </p:nvSpPr>
        <p:spPr>
          <a:xfrm>
            <a:off x="214312" y="1181099"/>
            <a:ext cx="11763374" cy="5343525"/>
          </a:xfrm>
        </p:spPr>
        <p:txBody>
          <a:bodyPr>
            <a:normAutofit fontScale="92500" lnSpcReduction="20000"/>
          </a:bodyPr>
          <a:lstStyle/>
          <a:p>
            <a:r>
              <a:rPr lang="en-US" dirty="0"/>
              <a:t>The full recovery of </a:t>
            </a:r>
            <a:r>
              <a:rPr lang="en-US" b="1" dirty="0"/>
              <a:t>tablespaces and datafiles </a:t>
            </a:r>
            <a:r>
              <a:rPr lang="en-US" dirty="0"/>
              <a:t>can be performed with the database mounted or open.</a:t>
            </a:r>
          </a:p>
          <a:p>
            <a:pPr marL="0" indent="0">
              <a:buNone/>
            </a:pPr>
            <a:r>
              <a:rPr lang="en-US" dirty="0"/>
              <a:t>1. Make the tablespace offline (using the </a:t>
            </a:r>
            <a:r>
              <a:rPr lang="en-US" dirty="0">
                <a:solidFill>
                  <a:srgbClr val="FFFF00"/>
                </a:solidFill>
              </a:rPr>
              <a:t>ALTER TABLESPACE OFFLINE IMMEDIATE </a:t>
            </a:r>
            <a:r>
              <a:rPr lang="en-US" dirty="0"/>
              <a:t>command). </a:t>
            </a:r>
          </a:p>
          <a:p>
            <a:pPr marL="0" indent="0">
              <a:buNone/>
            </a:pPr>
            <a:r>
              <a:rPr lang="en-US" dirty="0"/>
              <a:t>2. </a:t>
            </a:r>
            <a:r>
              <a:rPr lang="en-US" dirty="0">
                <a:solidFill>
                  <a:srgbClr val="FFFF00"/>
                </a:solidFill>
              </a:rPr>
              <a:t>Restore all the datafiles associated with the tablespace</a:t>
            </a:r>
            <a:r>
              <a:rPr lang="en-US" dirty="0"/>
              <a:t> to be recovered. </a:t>
            </a:r>
          </a:p>
          <a:p>
            <a:pPr marL="0" indent="0">
              <a:buNone/>
            </a:pPr>
            <a:r>
              <a:rPr lang="en-US" dirty="0"/>
              <a:t>3. Recover the tablespace (using the </a:t>
            </a:r>
            <a:r>
              <a:rPr lang="en-US" dirty="0">
                <a:solidFill>
                  <a:srgbClr val="FFFF00"/>
                </a:solidFill>
              </a:rPr>
              <a:t>RECOVER TABLESPACE </a:t>
            </a:r>
            <a:r>
              <a:rPr lang="en-US" dirty="0"/>
              <a:t>command). </a:t>
            </a:r>
          </a:p>
          <a:p>
            <a:pPr marL="0" indent="0">
              <a:buNone/>
            </a:pPr>
            <a:r>
              <a:rPr lang="en-US" dirty="0"/>
              <a:t>4. Once the recovery has been completed, make the tablespace online (using the </a:t>
            </a:r>
            <a:r>
              <a:rPr lang="en-US" dirty="0">
                <a:solidFill>
                  <a:srgbClr val="FFFF00"/>
                </a:solidFill>
              </a:rPr>
              <a:t>ALTER TABLESPACE ONLINE </a:t>
            </a:r>
            <a:r>
              <a:rPr lang="en-US" dirty="0"/>
              <a:t>command).</a:t>
            </a:r>
          </a:p>
          <a:p>
            <a:pPr marL="0" indent="0">
              <a:buNone/>
            </a:pPr>
            <a:endParaRPr lang="en-US" dirty="0"/>
          </a:p>
          <a:p>
            <a:pPr marL="0" indent="0">
              <a:buNone/>
            </a:pPr>
            <a:r>
              <a:rPr lang="en-US" dirty="0"/>
              <a:t>You can use the following steps to recover some </a:t>
            </a:r>
            <a:r>
              <a:rPr lang="en-US" b="1" dirty="0"/>
              <a:t>specific datafiles </a:t>
            </a:r>
            <a:r>
              <a:rPr lang="en-US" dirty="0"/>
              <a:t>without taking the tablespace offline:</a:t>
            </a:r>
          </a:p>
          <a:p>
            <a:pPr marL="0" indent="0">
              <a:buNone/>
            </a:pPr>
            <a:r>
              <a:rPr lang="en-US" dirty="0"/>
              <a:t>1.Make the datafile offline (using the </a:t>
            </a:r>
            <a:r>
              <a:rPr lang="en-US" dirty="0">
                <a:solidFill>
                  <a:srgbClr val="FFFF00"/>
                </a:solidFill>
              </a:rPr>
              <a:t>ALTER DATABASE DATAFILE OFFLINE </a:t>
            </a:r>
            <a:r>
              <a:rPr lang="en-US" dirty="0"/>
              <a:t>command). </a:t>
            </a:r>
          </a:p>
          <a:p>
            <a:pPr marL="0" indent="0">
              <a:buNone/>
            </a:pPr>
            <a:r>
              <a:rPr lang="en-US" dirty="0"/>
              <a:t>2. </a:t>
            </a:r>
            <a:r>
              <a:rPr lang="en-US" dirty="0">
                <a:solidFill>
                  <a:srgbClr val="FFFF00"/>
                </a:solidFill>
              </a:rPr>
              <a:t>Restore all the datafiles </a:t>
            </a:r>
            <a:r>
              <a:rPr lang="en-US" dirty="0"/>
              <a:t>to be recovered. </a:t>
            </a:r>
          </a:p>
          <a:p>
            <a:pPr marL="0" indent="0">
              <a:buNone/>
            </a:pPr>
            <a:r>
              <a:rPr lang="en-US" dirty="0"/>
              <a:t>3. Recover the datafile (using </a:t>
            </a:r>
            <a:r>
              <a:rPr lang="en-US" dirty="0">
                <a:solidFill>
                  <a:srgbClr val="FFFF00"/>
                </a:solidFill>
              </a:rPr>
              <a:t>the RECOVER DATAFILE </a:t>
            </a:r>
            <a:r>
              <a:rPr lang="en-US" dirty="0"/>
              <a:t>command). </a:t>
            </a:r>
          </a:p>
          <a:p>
            <a:pPr marL="0" indent="0">
              <a:buNone/>
            </a:pPr>
            <a:r>
              <a:rPr lang="en-US" dirty="0"/>
              <a:t>4. Once the recovery has been completed, make the datafile online (using the </a:t>
            </a:r>
            <a:r>
              <a:rPr lang="en-US" dirty="0">
                <a:solidFill>
                  <a:srgbClr val="FFFF00"/>
                </a:solidFill>
              </a:rPr>
              <a:t>ALTER DATABASE DATAFILE ONLINE</a:t>
            </a:r>
            <a:r>
              <a:rPr lang="en-US" dirty="0"/>
              <a:t> command).</a:t>
            </a:r>
          </a:p>
        </p:txBody>
      </p:sp>
      <p:sp>
        <p:nvSpPr>
          <p:cNvPr id="4" name="Title 1">
            <a:extLst>
              <a:ext uri="{FF2B5EF4-FFF2-40B4-BE49-F238E27FC236}">
                <a16:creationId xmlns:a16="http://schemas.microsoft.com/office/drawing/2014/main" id="{C30FAEC4-8C4C-4643-9F7C-2B0C3FA17DB4}"/>
              </a:ext>
            </a:extLst>
          </p:cNvPr>
          <p:cNvSpPr>
            <a:spLocks noGrp="1"/>
          </p:cNvSpPr>
          <p:nvPr>
            <p:ph type="title"/>
          </p:nvPr>
        </p:nvSpPr>
        <p:spPr>
          <a:xfrm>
            <a:off x="80962" y="0"/>
            <a:ext cx="12030075" cy="1325563"/>
          </a:xfrm>
        </p:spPr>
        <p:txBody>
          <a:bodyPr/>
          <a:lstStyle/>
          <a:p>
            <a:r>
              <a:rPr lang="en-US" dirty="0"/>
              <a:t>Recovering from a user-managed backup</a:t>
            </a:r>
          </a:p>
        </p:txBody>
      </p:sp>
    </p:spTree>
    <p:extLst>
      <p:ext uri="{BB962C8B-B14F-4D97-AF65-F5344CB8AC3E}">
        <p14:creationId xmlns:p14="http://schemas.microsoft.com/office/powerpoint/2010/main" val="40234916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E3A1E-9AF8-4075-915E-3E950CB6BD39}"/>
              </a:ext>
            </a:extLst>
          </p:cNvPr>
          <p:cNvSpPr>
            <a:spLocks noGrp="1"/>
          </p:cNvSpPr>
          <p:nvPr>
            <p:ph type="title"/>
          </p:nvPr>
        </p:nvSpPr>
        <p:spPr>
          <a:xfrm>
            <a:off x="919119" y="-66674"/>
            <a:ext cx="10353761" cy="971549"/>
          </a:xfrm>
        </p:spPr>
        <p:txBody>
          <a:bodyPr/>
          <a:lstStyle/>
          <a:p>
            <a:r>
              <a:rPr lang="en-US" dirty="0"/>
              <a:t>A point-in-time recovery</a:t>
            </a:r>
          </a:p>
        </p:txBody>
      </p:sp>
      <p:sp>
        <p:nvSpPr>
          <p:cNvPr id="3" name="Content Placeholder 2">
            <a:extLst>
              <a:ext uri="{FF2B5EF4-FFF2-40B4-BE49-F238E27FC236}">
                <a16:creationId xmlns:a16="http://schemas.microsoft.com/office/drawing/2014/main" id="{301383B5-135E-4331-9BFD-3C131E5E2C03}"/>
              </a:ext>
            </a:extLst>
          </p:cNvPr>
          <p:cNvSpPr>
            <a:spLocks noGrp="1"/>
          </p:cNvSpPr>
          <p:nvPr>
            <p:ph idx="1"/>
          </p:nvPr>
        </p:nvSpPr>
        <p:spPr>
          <a:xfrm>
            <a:off x="290512" y="904875"/>
            <a:ext cx="11610975" cy="5438775"/>
          </a:xfrm>
        </p:spPr>
        <p:txBody>
          <a:bodyPr>
            <a:normAutofit fontScale="92500" lnSpcReduction="10000"/>
          </a:bodyPr>
          <a:lstStyle/>
          <a:p>
            <a:r>
              <a:rPr lang="en-US" dirty="0"/>
              <a:t>A point-in-time recovery can be used to recover a database up to a specific point in time. Most of the time this is used to recover the database until just before a major failure or crash happens. It is also used to clone a database for test or development purpose.</a:t>
            </a:r>
          </a:p>
          <a:p>
            <a:r>
              <a:rPr lang="en-US" dirty="0"/>
              <a:t>If you want to recover a tablespace to a specific point in time, you will need to recover the entire database to the same point in time unless you perform a tablespace point-in-time recovery </a:t>
            </a:r>
            <a:r>
              <a:rPr lang="en-US" b="1" dirty="0">
                <a:solidFill>
                  <a:srgbClr val="FFFF00"/>
                </a:solidFill>
              </a:rPr>
              <a:t>(TSPITR)</a:t>
            </a:r>
          </a:p>
          <a:p>
            <a:r>
              <a:rPr lang="en-US" dirty="0"/>
              <a:t>To recover your database to a point in time </a:t>
            </a:r>
            <a:r>
              <a:rPr lang="en-US" dirty="0">
                <a:solidFill>
                  <a:srgbClr val="FFFF00"/>
                </a:solidFill>
              </a:rPr>
              <a:t>(</a:t>
            </a:r>
            <a:r>
              <a:rPr lang="en-US" b="1" dirty="0">
                <a:solidFill>
                  <a:srgbClr val="FFFF00"/>
                </a:solidFill>
              </a:rPr>
              <a:t>DBPITR)</a:t>
            </a:r>
          </a:p>
          <a:p>
            <a:r>
              <a:rPr lang="en-US" dirty="0"/>
              <a:t>you will just need to follow these steps: </a:t>
            </a:r>
          </a:p>
          <a:p>
            <a:pPr marL="0" indent="0">
              <a:buNone/>
            </a:pPr>
            <a:r>
              <a:rPr lang="en-US" dirty="0"/>
              <a:t>1. </a:t>
            </a:r>
            <a:r>
              <a:rPr lang="en-US" dirty="0">
                <a:solidFill>
                  <a:srgbClr val="FFFF00"/>
                </a:solidFill>
              </a:rPr>
              <a:t>Restore all database datafiles </a:t>
            </a:r>
            <a:r>
              <a:rPr lang="en-US" dirty="0"/>
              <a:t>from a previous backup made before the point-in-time that you want to recover the database from. </a:t>
            </a:r>
          </a:p>
          <a:p>
            <a:pPr marL="0" indent="0">
              <a:buNone/>
            </a:pPr>
            <a:r>
              <a:rPr lang="en-US" dirty="0"/>
              <a:t>2. Recover the database to the point-in-time using the </a:t>
            </a:r>
            <a:r>
              <a:rPr lang="en-US" dirty="0">
                <a:solidFill>
                  <a:srgbClr val="FFFF00"/>
                </a:solidFill>
              </a:rPr>
              <a:t>RECOVER DATABASE UNTIL TIME </a:t>
            </a:r>
            <a:r>
              <a:rPr lang="en-US" dirty="0"/>
              <a:t>'</a:t>
            </a:r>
            <a:r>
              <a:rPr lang="en-US" dirty="0">
                <a:solidFill>
                  <a:srgbClr val="FFFF00"/>
                </a:solidFill>
              </a:rPr>
              <a:t>April 18 2021 09:00:00' </a:t>
            </a:r>
            <a:r>
              <a:rPr lang="en-US" dirty="0"/>
              <a:t>command and apply the archive logs as required. </a:t>
            </a:r>
          </a:p>
          <a:p>
            <a:pPr marL="0" indent="0">
              <a:buNone/>
            </a:pPr>
            <a:r>
              <a:rPr lang="en-US" dirty="0"/>
              <a:t>3. When the recovery is completed, open the database using the </a:t>
            </a:r>
            <a:r>
              <a:rPr lang="en-US" b="1" dirty="0">
                <a:solidFill>
                  <a:srgbClr val="FFFF00"/>
                </a:solidFill>
              </a:rPr>
              <a:t>ALTER DATABASE OPEN RESETLOGS</a:t>
            </a:r>
            <a:r>
              <a:rPr lang="en-US" dirty="0"/>
              <a:t> command.</a:t>
            </a:r>
          </a:p>
          <a:p>
            <a:r>
              <a:rPr lang="en-US" dirty="0"/>
              <a:t>You can also choose to do your </a:t>
            </a:r>
            <a:r>
              <a:rPr lang="en-US" b="1" dirty="0">
                <a:solidFill>
                  <a:srgbClr val="FFFF00"/>
                </a:solidFill>
              </a:rPr>
              <a:t>DBPITR</a:t>
            </a:r>
            <a:r>
              <a:rPr lang="en-US" b="1" dirty="0"/>
              <a:t> using an </a:t>
            </a:r>
            <a:r>
              <a:rPr lang="en-US" b="1" dirty="0">
                <a:solidFill>
                  <a:srgbClr val="FFFF00"/>
                </a:solidFill>
              </a:rPr>
              <a:t>SCN</a:t>
            </a:r>
          </a:p>
        </p:txBody>
      </p:sp>
    </p:spTree>
    <p:extLst>
      <p:ext uri="{BB962C8B-B14F-4D97-AF65-F5344CB8AC3E}">
        <p14:creationId xmlns:p14="http://schemas.microsoft.com/office/powerpoint/2010/main" val="2833277437"/>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E581C-3D91-4940-BE0F-8873EA27DCDD}"/>
              </a:ext>
            </a:extLst>
          </p:cNvPr>
          <p:cNvSpPr>
            <a:spLocks noGrp="1"/>
          </p:cNvSpPr>
          <p:nvPr>
            <p:ph type="title"/>
          </p:nvPr>
        </p:nvSpPr>
        <p:spPr>
          <a:xfrm>
            <a:off x="919119" y="-88071"/>
            <a:ext cx="10353761" cy="1326321"/>
          </a:xfrm>
        </p:spPr>
        <p:txBody>
          <a:bodyPr/>
          <a:lstStyle/>
          <a:p>
            <a:r>
              <a:rPr lang="en-US" dirty="0"/>
              <a:t>USER MANAGED - recovery scenarios</a:t>
            </a:r>
          </a:p>
        </p:txBody>
      </p:sp>
      <p:sp>
        <p:nvSpPr>
          <p:cNvPr id="3" name="Content Placeholder 2">
            <a:extLst>
              <a:ext uri="{FF2B5EF4-FFF2-40B4-BE49-F238E27FC236}">
                <a16:creationId xmlns:a16="http://schemas.microsoft.com/office/drawing/2014/main" id="{D1E12600-2122-4232-9E9E-AC6191C030C9}"/>
              </a:ext>
            </a:extLst>
          </p:cNvPr>
          <p:cNvSpPr>
            <a:spLocks noGrp="1"/>
          </p:cNvSpPr>
          <p:nvPr>
            <p:ph idx="1"/>
          </p:nvPr>
        </p:nvSpPr>
        <p:spPr>
          <a:xfrm>
            <a:off x="266700" y="1133474"/>
            <a:ext cx="11506200" cy="5362575"/>
          </a:xfrm>
        </p:spPr>
        <p:txBody>
          <a:bodyPr>
            <a:normAutofit fontScale="92500" lnSpcReduction="10000"/>
          </a:bodyPr>
          <a:lstStyle/>
          <a:p>
            <a:pPr marL="0" indent="0">
              <a:buNone/>
            </a:pPr>
            <a:r>
              <a:rPr lang="en-US" sz="2600" b="1" dirty="0">
                <a:solidFill>
                  <a:srgbClr val="FFFF00"/>
                </a:solidFill>
              </a:rPr>
              <a:t>Losing all copies of the current control file:</a:t>
            </a:r>
          </a:p>
          <a:p>
            <a:r>
              <a:rPr lang="en-US" b="1" dirty="0"/>
              <a:t> </a:t>
            </a:r>
            <a:r>
              <a:rPr lang="en-US" dirty="0"/>
              <a:t>If you have lost all the copies of your current control file, you will need to restore a backup of the control file and perform an incomplete recovery, opening the database with the RESETLOGS option. If you do not have a current backup of the control file, you can attempt to re-create the control file by using a previous backup (if available) of the script generated by the </a:t>
            </a:r>
            <a:r>
              <a:rPr lang="en-US" b="1" dirty="0"/>
              <a:t>ALTER DATABASE BACKUP CONTROLFILE TO TRACE</a:t>
            </a:r>
            <a:r>
              <a:rPr lang="en-US" dirty="0"/>
              <a:t> command (and edit it to include any changes made to the database structure since the script was generated) to re-create the control file. If not available, create a new script (from another database) and match the control file structure in the script with the current database structure.</a:t>
            </a:r>
          </a:p>
          <a:p>
            <a:pPr marL="0" indent="0">
              <a:buNone/>
            </a:pPr>
            <a:r>
              <a:rPr lang="en-US" sz="2600" b="1" dirty="0">
                <a:solidFill>
                  <a:srgbClr val="FFFF00"/>
                </a:solidFill>
              </a:rPr>
              <a:t>Losing one copy of a multiplexed control file:</a:t>
            </a:r>
          </a:p>
          <a:p>
            <a:pPr marL="0" indent="0">
              <a:buNone/>
            </a:pPr>
            <a:r>
              <a:rPr lang="en-US" dirty="0"/>
              <a:t>If you have lost one copy of a multiplexed control file, you will need to copy one of the surviving copies of the multiplexed control file into the location of the lost/ damaged control file and open the database. If the original location is inaccessible, then all you need to do is copy one of the surviving copies to a new location and edit the initialization parameter file to reflect the change, then open the database.</a:t>
            </a:r>
            <a:endParaRPr lang="en-US" b="1" dirty="0"/>
          </a:p>
          <a:p>
            <a:pPr marL="0" indent="0">
              <a:buNone/>
            </a:pPr>
            <a:endParaRPr lang="en-US" b="1" dirty="0"/>
          </a:p>
        </p:txBody>
      </p:sp>
    </p:spTree>
    <p:extLst>
      <p:ext uri="{BB962C8B-B14F-4D97-AF65-F5344CB8AC3E}">
        <p14:creationId xmlns:p14="http://schemas.microsoft.com/office/powerpoint/2010/main" val="2546824900"/>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0CD9F-36CB-4590-A2A2-ED3C96DE7E32}"/>
              </a:ext>
            </a:extLst>
          </p:cNvPr>
          <p:cNvSpPr>
            <a:spLocks noGrp="1"/>
          </p:cNvSpPr>
          <p:nvPr>
            <p:ph idx="1"/>
          </p:nvPr>
        </p:nvSpPr>
        <p:spPr>
          <a:xfrm>
            <a:off x="647700" y="1238250"/>
            <a:ext cx="10887075" cy="5295900"/>
          </a:xfrm>
        </p:spPr>
        <p:txBody>
          <a:bodyPr>
            <a:normAutofit fontScale="92500" lnSpcReduction="20000"/>
          </a:bodyPr>
          <a:lstStyle/>
          <a:p>
            <a:r>
              <a:rPr lang="en-US" sz="2600" b="1" dirty="0">
                <a:solidFill>
                  <a:srgbClr val="FFFF00"/>
                </a:solidFill>
              </a:rPr>
              <a:t>Loss of archived redo logs or online redo logs:</a:t>
            </a:r>
          </a:p>
          <a:p>
            <a:r>
              <a:rPr lang="en-US" dirty="0"/>
              <a:t>If you need to perform a recovery of your database and discover that you have lost one or more archived redo logs that makes impossible to perform a complete recovery, then you will need to perform some form of point-in-time recovery (incomplete recovery) to allow you to recover your database with the data you have available. In the case of losing of the current online redo log file, perform the recovery using the </a:t>
            </a:r>
            <a:r>
              <a:rPr lang="en-US" b="1" dirty="0"/>
              <a:t>UNTIL CANCEL </a:t>
            </a:r>
            <a:r>
              <a:rPr lang="en-US" dirty="0"/>
              <a:t>option, then open your database using the </a:t>
            </a:r>
            <a:r>
              <a:rPr lang="en-US" b="1" dirty="0"/>
              <a:t>RESETLOGS </a:t>
            </a:r>
            <a:r>
              <a:rPr lang="en-US" dirty="0"/>
              <a:t>command.</a:t>
            </a:r>
          </a:p>
          <a:p>
            <a:r>
              <a:rPr lang="en-US" sz="2600" b="1" dirty="0">
                <a:solidFill>
                  <a:srgbClr val="FFFF00"/>
                </a:solidFill>
              </a:rPr>
              <a:t>Loss of SPFILE:</a:t>
            </a:r>
          </a:p>
          <a:p>
            <a:r>
              <a:rPr lang="en-US" dirty="0"/>
              <a:t>If you lose your current </a:t>
            </a:r>
            <a:r>
              <a:rPr lang="en-US" b="1" dirty="0"/>
              <a:t>SPFILE</a:t>
            </a:r>
            <a:r>
              <a:rPr lang="en-US" dirty="0"/>
              <a:t> or </a:t>
            </a:r>
            <a:r>
              <a:rPr lang="en-US" b="1" dirty="0"/>
              <a:t>PFILE</a:t>
            </a:r>
            <a:r>
              <a:rPr lang="en-US" dirty="0"/>
              <a:t> and your database is up and running, then all you will need to do is execute the </a:t>
            </a:r>
            <a:r>
              <a:rPr lang="en-US" b="1" dirty="0"/>
              <a:t>CREATE FROM MEMORY </a:t>
            </a:r>
            <a:r>
              <a:rPr lang="en-US" dirty="0"/>
              <a:t>command to re-create it. If the database is down then you will need to restore it from a previous backup. Another option available if you have a current copy of the SPFILE as PFILE (created by using the </a:t>
            </a:r>
            <a:r>
              <a:rPr lang="en-US" b="1" dirty="0"/>
              <a:t>CREATE PFILE FROM SPFILE</a:t>
            </a:r>
            <a:r>
              <a:rPr lang="en-US" dirty="0"/>
              <a:t> statement in SQL*Plus) is to start the instance using the PFILE, then re-create the SPFILE using the </a:t>
            </a:r>
            <a:r>
              <a:rPr lang="en-US" b="1" dirty="0"/>
              <a:t>CREATE SPFILE FROM PFILE </a:t>
            </a:r>
            <a:r>
              <a:rPr lang="en-US" dirty="0"/>
              <a:t>statement, and finally re-start your database.</a:t>
            </a:r>
            <a:endParaRPr lang="en-US" b="1" dirty="0">
              <a:solidFill>
                <a:srgbClr val="FFFF00"/>
              </a:solidFill>
            </a:endParaRPr>
          </a:p>
        </p:txBody>
      </p:sp>
      <p:sp>
        <p:nvSpPr>
          <p:cNvPr id="4" name="Title 1">
            <a:extLst>
              <a:ext uri="{FF2B5EF4-FFF2-40B4-BE49-F238E27FC236}">
                <a16:creationId xmlns:a16="http://schemas.microsoft.com/office/drawing/2014/main" id="{219DF1DF-09D6-45B6-9E15-014EA3C53447}"/>
              </a:ext>
            </a:extLst>
          </p:cNvPr>
          <p:cNvSpPr>
            <a:spLocks noGrp="1"/>
          </p:cNvSpPr>
          <p:nvPr>
            <p:ph type="title"/>
          </p:nvPr>
        </p:nvSpPr>
        <p:spPr>
          <a:xfrm>
            <a:off x="919119" y="-88071"/>
            <a:ext cx="10353761" cy="1326321"/>
          </a:xfrm>
        </p:spPr>
        <p:txBody>
          <a:bodyPr/>
          <a:lstStyle/>
          <a:p>
            <a:r>
              <a:rPr lang="en-US" dirty="0"/>
              <a:t>USER MANAGED - recovery scenarios</a:t>
            </a:r>
          </a:p>
        </p:txBody>
      </p:sp>
    </p:spTree>
    <p:extLst>
      <p:ext uri="{BB962C8B-B14F-4D97-AF65-F5344CB8AC3E}">
        <p14:creationId xmlns:p14="http://schemas.microsoft.com/office/powerpoint/2010/main" val="2592222243"/>
      </p:ext>
    </p:extLst>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9C4A-08E7-4E0D-93DF-415411975C3C}"/>
              </a:ext>
            </a:extLst>
          </p:cNvPr>
          <p:cNvSpPr>
            <a:spLocks noGrp="1"/>
          </p:cNvSpPr>
          <p:nvPr>
            <p:ph type="title"/>
          </p:nvPr>
        </p:nvSpPr>
        <p:spPr>
          <a:xfrm>
            <a:off x="919119" y="-173796"/>
            <a:ext cx="10353761" cy="1326321"/>
          </a:xfrm>
        </p:spPr>
        <p:txBody>
          <a:bodyPr/>
          <a:lstStyle/>
          <a:p>
            <a:r>
              <a:rPr lang="en-US" dirty="0" err="1"/>
              <a:t>RMAn</a:t>
            </a:r>
            <a:r>
              <a:rPr lang="en-US" dirty="0"/>
              <a:t> Utility for BACKUP</a:t>
            </a:r>
          </a:p>
        </p:txBody>
      </p:sp>
      <p:sp>
        <p:nvSpPr>
          <p:cNvPr id="3" name="Content Placeholder 2">
            <a:extLst>
              <a:ext uri="{FF2B5EF4-FFF2-40B4-BE49-F238E27FC236}">
                <a16:creationId xmlns:a16="http://schemas.microsoft.com/office/drawing/2014/main" id="{E1389FE6-B9D0-432D-A766-9333F550BA97}"/>
              </a:ext>
            </a:extLst>
          </p:cNvPr>
          <p:cNvSpPr>
            <a:spLocks noGrp="1"/>
          </p:cNvSpPr>
          <p:nvPr>
            <p:ph idx="1"/>
          </p:nvPr>
        </p:nvSpPr>
        <p:spPr>
          <a:xfrm>
            <a:off x="214311" y="904875"/>
            <a:ext cx="11763375" cy="5695950"/>
          </a:xfrm>
        </p:spPr>
        <p:txBody>
          <a:bodyPr>
            <a:normAutofit fontScale="85000" lnSpcReduction="20000"/>
          </a:bodyPr>
          <a:lstStyle/>
          <a:p>
            <a:pPr marL="0" indent="0">
              <a:buNone/>
            </a:pPr>
            <a:r>
              <a:rPr lang="en-US" sz="2800" b="1" dirty="0">
                <a:solidFill>
                  <a:srgbClr val="FFFF00"/>
                </a:solidFill>
              </a:rPr>
              <a:t>Benefits of using RMAN instead of user managed backup:</a:t>
            </a:r>
          </a:p>
          <a:p>
            <a:r>
              <a:rPr lang="en-US" sz="1600" dirty="0"/>
              <a:t>RMAN provides a single backup standard for the entire enterprise</a:t>
            </a:r>
          </a:p>
          <a:p>
            <a:r>
              <a:rPr lang="en-US" sz="1600" dirty="0"/>
              <a:t>RMAN is supplied with the database software and so using it doesn't need any additional licensing to be purchased.</a:t>
            </a:r>
          </a:p>
          <a:p>
            <a:r>
              <a:rPr lang="en-US" sz="1600" dirty="0"/>
              <a:t>Backups can easily be automated using RMAN scripts</a:t>
            </a:r>
          </a:p>
          <a:p>
            <a:r>
              <a:rPr lang="en-US" sz="1600" dirty="0"/>
              <a:t>RMAN is integrated with the Oracle Database kernel and thus is very efficient. This further implies that for the purpose of data recovery, you have one infrastructure application less to install before beginning recoveries.</a:t>
            </a:r>
          </a:p>
          <a:p>
            <a:r>
              <a:rPr lang="en-US" sz="1600" dirty="0"/>
              <a:t>RMAN provides efficient backup metadata management as it is maintained within the control file of the target database itself. The control file uses parameters to mark the metadata as obsolete at respective internals, thus making space for new data.</a:t>
            </a:r>
          </a:p>
          <a:p>
            <a:r>
              <a:rPr lang="en-US" sz="1600" dirty="0"/>
              <a:t>RMAN allows you to garner reports for backup management such as listing available backups, their status and availability, and listing the files which need to be backed up, through simple commands such as LIST, REPORT, and so forth.</a:t>
            </a:r>
          </a:p>
          <a:p>
            <a:r>
              <a:rPr lang="en-US" sz="1600" dirty="0"/>
              <a:t>RMAN facilitates the use of the Recovery Catalog, which is an optional location to store metadata for multiple databases.</a:t>
            </a:r>
          </a:p>
          <a:p>
            <a:r>
              <a:rPr lang="en-US" sz="1600" dirty="0"/>
              <a:t> RMAN enables us to secure incremental backups whereby we can take a backup of the changes made to the database rather than the entire database. This feature expedites data recovery and improves backup time, thus reducing strain on the infrastructure.</a:t>
            </a:r>
          </a:p>
          <a:p>
            <a:r>
              <a:rPr lang="en-US" sz="1600" dirty="0"/>
              <a:t>RMAN has in-built compression techniques to reduce the size of the backups created through it</a:t>
            </a:r>
          </a:p>
          <a:p>
            <a:r>
              <a:rPr lang="en-US" sz="1600" dirty="0"/>
              <a:t>Using RMAN, advanced tasks such as cloning of databases becomes extremely easy.</a:t>
            </a:r>
          </a:p>
          <a:p>
            <a:r>
              <a:rPr lang="en-US" sz="1600" dirty="0"/>
              <a:t>Only RMAN offers the detection and recovery of corrupted blocks without asking for any downtime either for the table or for the database</a:t>
            </a:r>
          </a:p>
          <a:p>
            <a:r>
              <a:rPr lang="en-US" sz="1600" dirty="0"/>
              <a:t>RMAN doesn't restrict you to work with only itself. It can be used along with third-party solutions such as Tivoli and </a:t>
            </a:r>
            <a:r>
              <a:rPr lang="en-US" sz="1600" dirty="0" err="1"/>
              <a:t>Netbackup</a:t>
            </a:r>
            <a:r>
              <a:rPr lang="en-US" sz="1600" dirty="0"/>
              <a:t> as well.</a:t>
            </a:r>
          </a:p>
          <a:p>
            <a:endParaRPr lang="en-US" sz="1600" dirty="0"/>
          </a:p>
          <a:p>
            <a:endParaRPr lang="en-US" sz="1600" dirty="0"/>
          </a:p>
        </p:txBody>
      </p:sp>
    </p:spTree>
    <p:extLst>
      <p:ext uri="{BB962C8B-B14F-4D97-AF65-F5344CB8AC3E}">
        <p14:creationId xmlns:p14="http://schemas.microsoft.com/office/powerpoint/2010/main" val="1281608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31AF3-8E44-45F7-B22C-F597D5FB5EE7}"/>
              </a:ext>
            </a:extLst>
          </p:cNvPr>
          <p:cNvSpPr>
            <a:spLocks noGrp="1"/>
          </p:cNvSpPr>
          <p:nvPr>
            <p:ph type="title"/>
          </p:nvPr>
        </p:nvSpPr>
        <p:spPr>
          <a:xfrm>
            <a:off x="919119" y="0"/>
            <a:ext cx="10353761" cy="1326321"/>
          </a:xfrm>
        </p:spPr>
        <p:txBody>
          <a:bodyPr>
            <a:normAutofit/>
          </a:bodyPr>
          <a:lstStyle/>
          <a:p>
            <a:r>
              <a:rPr lang="en-US" dirty="0"/>
              <a:t>RMAN architecture</a:t>
            </a:r>
          </a:p>
        </p:txBody>
      </p:sp>
      <p:sp>
        <p:nvSpPr>
          <p:cNvPr id="3" name="Content Placeholder 2">
            <a:extLst>
              <a:ext uri="{FF2B5EF4-FFF2-40B4-BE49-F238E27FC236}">
                <a16:creationId xmlns:a16="http://schemas.microsoft.com/office/drawing/2014/main" id="{EDC39CBA-8A4E-42A9-BE44-172EBEE3EF87}"/>
              </a:ext>
            </a:extLst>
          </p:cNvPr>
          <p:cNvSpPr>
            <a:spLocks noGrp="1"/>
          </p:cNvSpPr>
          <p:nvPr>
            <p:ph idx="1"/>
          </p:nvPr>
        </p:nvSpPr>
        <p:spPr>
          <a:xfrm>
            <a:off x="548640" y="1198881"/>
            <a:ext cx="6717979" cy="5181600"/>
          </a:xfrm>
        </p:spPr>
        <p:txBody>
          <a:bodyPr>
            <a:normAutofit fontScale="92500" lnSpcReduction="10000"/>
          </a:bodyPr>
          <a:lstStyle/>
          <a:p>
            <a:pPr marL="0" indent="0">
              <a:buNone/>
            </a:pPr>
            <a:r>
              <a:rPr lang="en-US" dirty="0"/>
              <a:t>There are a few key entities for </a:t>
            </a:r>
            <a:r>
              <a:rPr lang="en-US" b="1" dirty="0"/>
              <a:t>RMAN to </a:t>
            </a:r>
            <a:r>
              <a:rPr lang="en-US" dirty="0"/>
              <a:t>start with. Some of them are mandatory and the rest are optional. We will list these components along with whether they are optional or mandatory in the following list:</a:t>
            </a:r>
          </a:p>
          <a:p>
            <a:r>
              <a:rPr lang="en-US" b="1" dirty="0"/>
              <a:t>Target database </a:t>
            </a:r>
            <a:r>
              <a:rPr lang="en-US" dirty="0"/>
              <a:t>(mandatory) </a:t>
            </a:r>
          </a:p>
          <a:p>
            <a:r>
              <a:rPr lang="en-US" b="1" dirty="0"/>
              <a:t>Target Control File </a:t>
            </a:r>
            <a:r>
              <a:rPr lang="en-US" dirty="0"/>
              <a:t>(mandatory) </a:t>
            </a:r>
          </a:p>
          <a:p>
            <a:r>
              <a:rPr lang="en-US" dirty="0"/>
              <a:t> </a:t>
            </a:r>
            <a:r>
              <a:rPr lang="en-US" b="1" dirty="0"/>
              <a:t>Channels</a:t>
            </a:r>
            <a:r>
              <a:rPr lang="en-US" dirty="0"/>
              <a:t> (mandatory) </a:t>
            </a:r>
          </a:p>
          <a:p>
            <a:r>
              <a:rPr lang="en-US" dirty="0"/>
              <a:t> </a:t>
            </a:r>
            <a:r>
              <a:rPr lang="en-US" b="1" dirty="0"/>
              <a:t>Recovery Catalog </a:t>
            </a:r>
            <a:r>
              <a:rPr lang="en-US" dirty="0"/>
              <a:t>(optional) </a:t>
            </a:r>
          </a:p>
          <a:p>
            <a:r>
              <a:rPr lang="en-US" dirty="0"/>
              <a:t> </a:t>
            </a:r>
            <a:r>
              <a:rPr lang="en-US" b="1" dirty="0"/>
              <a:t>Oracle Secure Backup </a:t>
            </a:r>
            <a:r>
              <a:rPr lang="en-US" dirty="0"/>
              <a:t>(optional) </a:t>
            </a:r>
          </a:p>
          <a:p>
            <a:r>
              <a:rPr lang="en-US" dirty="0"/>
              <a:t> </a:t>
            </a:r>
            <a:r>
              <a:rPr lang="en-US" b="1" dirty="0"/>
              <a:t>Media Management Library </a:t>
            </a:r>
            <a:r>
              <a:rPr lang="en-US" dirty="0"/>
              <a:t>(optional) </a:t>
            </a:r>
          </a:p>
          <a:p>
            <a:r>
              <a:rPr lang="en-US" dirty="0"/>
              <a:t> </a:t>
            </a:r>
            <a:r>
              <a:rPr lang="en-US" b="1" dirty="0"/>
              <a:t>Auxiliary database </a:t>
            </a:r>
            <a:r>
              <a:rPr lang="en-US" dirty="0"/>
              <a:t>(optional) </a:t>
            </a:r>
          </a:p>
          <a:p>
            <a:r>
              <a:rPr lang="en-US" b="1" dirty="0"/>
              <a:t> Cloud Control 12c/13c </a:t>
            </a:r>
            <a:r>
              <a:rPr lang="en-US" dirty="0"/>
              <a:t>(optional)</a:t>
            </a:r>
          </a:p>
        </p:txBody>
      </p:sp>
      <p:pic>
        <p:nvPicPr>
          <p:cNvPr id="4" name="Picture 3">
            <a:extLst>
              <a:ext uri="{FF2B5EF4-FFF2-40B4-BE49-F238E27FC236}">
                <a16:creationId xmlns:a16="http://schemas.microsoft.com/office/drawing/2014/main" id="{E0444768-F4B8-47DE-B0C6-B9FFA216090D}"/>
              </a:ext>
            </a:extLst>
          </p:cNvPr>
          <p:cNvPicPr>
            <a:picLocks noChangeAspect="1"/>
          </p:cNvPicPr>
          <p:nvPr/>
        </p:nvPicPr>
        <p:blipFill rotWithShape="1">
          <a:blip r:embed="rId3"/>
          <a:srcRect r="5496" b="-4"/>
          <a:stretch/>
        </p:blipFill>
        <p:spPr>
          <a:xfrm>
            <a:off x="7678736" y="2210935"/>
            <a:ext cx="3511778"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2221347107"/>
      </p:ext>
    </p:extLst>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7663C-164D-4399-AFAC-F6CC07E85D85}"/>
              </a:ext>
            </a:extLst>
          </p:cNvPr>
          <p:cNvSpPr>
            <a:spLocks noGrp="1"/>
          </p:cNvSpPr>
          <p:nvPr>
            <p:ph type="title"/>
          </p:nvPr>
        </p:nvSpPr>
        <p:spPr>
          <a:xfrm>
            <a:off x="919119" y="123825"/>
            <a:ext cx="10353761" cy="1326321"/>
          </a:xfrm>
        </p:spPr>
        <p:txBody>
          <a:bodyPr/>
          <a:lstStyle/>
          <a:p>
            <a:r>
              <a:rPr lang="en-US" dirty="0"/>
              <a:t>RMAN backup formats and types</a:t>
            </a:r>
          </a:p>
        </p:txBody>
      </p:sp>
      <p:sp>
        <p:nvSpPr>
          <p:cNvPr id="3" name="Content Placeholder 2">
            <a:extLst>
              <a:ext uri="{FF2B5EF4-FFF2-40B4-BE49-F238E27FC236}">
                <a16:creationId xmlns:a16="http://schemas.microsoft.com/office/drawing/2014/main" id="{50DBB18F-CF4D-448B-AF8C-7D219A889C8A}"/>
              </a:ext>
            </a:extLst>
          </p:cNvPr>
          <p:cNvSpPr>
            <a:spLocks noGrp="1"/>
          </p:cNvSpPr>
          <p:nvPr>
            <p:ph idx="1"/>
          </p:nvPr>
        </p:nvSpPr>
        <p:spPr>
          <a:xfrm>
            <a:off x="913795" y="1609725"/>
            <a:ext cx="10353762" cy="4638675"/>
          </a:xfrm>
        </p:spPr>
        <p:txBody>
          <a:bodyPr>
            <a:normAutofit lnSpcReduction="10000"/>
          </a:bodyPr>
          <a:lstStyle/>
          <a:p>
            <a:r>
              <a:rPr lang="en-US" dirty="0"/>
              <a:t>There are two formats of backup supported in RMAN:</a:t>
            </a:r>
          </a:p>
          <a:p>
            <a:pPr marL="0" indent="0">
              <a:buNone/>
            </a:pPr>
            <a:r>
              <a:rPr lang="en-US" dirty="0">
                <a:solidFill>
                  <a:srgbClr val="FFFF00"/>
                </a:solidFill>
              </a:rPr>
              <a:t>1. Backup set</a:t>
            </a:r>
          </a:p>
          <a:p>
            <a:pPr marL="0" indent="0">
              <a:buNone/>
            </a:pPr>
            <a:r>
              <a:rPr lang="en-US" dirty="0">
                <a:solidFill>
                  <a:srgbClr val="FFFF00"/>
                </a:solidFill>
              </a:rPr>
              <a:t>2. Image copy</a:t>
            </a:r>
          </a:p>
          <a:p>
            <a:pPr marL="0" indent="0">
              <a:buNone/>
            </a:pPr>
            <a:endParaRPr lang="en-US" dirty="0"/>
          </a:p>
          <a:p>
            <a:r>
              <a:rPr lang="en-US" dirty="0"/>
              <a:t>Using RMAN we can mainly take two types of Backup:</a:t>
            </a:r>
          </a:p>
          <a:p>
            <a:pPr marL="457200" indent="-457200">
              <a:buAutoNum type="arabicPeriod"/>
            </a:pPr>
            <a:r>
              <a:rPr lang="en-US" dirty="0">
                <a:solidFill>
                  <a:srgbClr val="FFFF00"/>
                </a:solidFill>
              </a:rPr>
              <a:t>Full backup</a:t>
            </a:r>
          </a:p>
          <a:p>
            <a:pPr marL="457200" indent="-457200">
              <a:buAutoNum type="arabicPeriod"/>
            </a:pPr>
            <a:r>
              <a:rPr lang="en-US" dirty="0">
                <a:solidFill>
                  <a:srgbClr val="FFFF00"/>
                </a:solidFill>
              </a:rPr>
              <a:t>Incremental backup</a:t>
            </a:r>
          </a:p>
          <a:p>
            <a:pPr marL="0" indent="0">
              <a:buNone/>
            </a:pPr>
            <a:endParaRPr lang="en-US" dirty="0"/>
          </a:p>
          <a:p>
            <a:pPr marL="0" indent="0">
              <a:buNone/>
            </a:pPr>
            <a:r>
              <a:rPr lang="en-US" dirty="0"/>
              <a:t>Further, the incremental backups can be of two types, namely </a:t>
            </a:r>
            <a:r>
              <a:rPr lang="en-US" b="1" dirty="0"/>
              <a:t>cumulative</a:t>
            </a:r>
            <a:r>
              <a:rPr lang="en-US" dirty="0"/>
              <a:t> and </a:t>
            </a:r>
            <a:r>
              <a:rPr lang="en-US" b="1" dirty="0"/>
              <a:t>differential </a:t>
            </a:r>
            <a:r>
              <a:rPr lang="en-US" dirty="0"/>
              <a:t>backups</a:t>
            </a:r>
          </a:p>
        </p:txBody>
      </p:sp>
    </p:spTree>
    <p:extLst>
      <p:ext uri="{BB962C8B-B14F-4D97-AF65-F5344CB8AC3E}">
        <p14:creationId xmlns:p14="http://schemas.microsoft.com/office/powerpoint/2010/main" val="33314535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otalTime>32</TotalTime>
  <Words>3915</Words>
  <Application>Microsoft Office PowerPoint</Application>
  <PresentationFormat>Widescreen</PresentationFormat>
  <Paragraphs>205</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Bookman Old Style</vt:lpstr>
      <vt:lpstr>Rockwell</vt:lpstr>
      <vt:lpstr>Wingdings</vt:lpstr>
      <vt:lpstr>Damask</vt:lpstr>
      <vt:lpstr>BACKUP AND RECOVERY CONCEPTS</vt:lpstr>
      <vt:lpstr>Basics of Backup and Recovery</vt:lpstr>
      <vt:lpstr>Types of backup</vt:lpstr>
      <vt:lpstr>Restore versus recovery</vt:lpstr>
      <vt:lpstr>Important terms related to backup &amp; Recovery</vt:lpstr>
      <vt:lpstr>The NOARCHIVELOG mode</vt:lpstr>
      <vt:lpstr>The ARCHIVELOG mode</vt:lpstr>
      <vt:lpstr>Placing a database into the ARCHIVELOG mode</vt:lpstr>
      <vt:lpstr>User-managed Backup and Recovery</vt:lpstr>
      <vt:lpstr>USER MANAGED backup - COLD BACKUP</vt:lpstr>
      <vt:lpstr>USER MANAGED BACKUP – OFFLINE backup</vt:lpstr>
      <vt:lpstr>USER MANAGED backup - Hot backups</vt:lpstr>
      <vt:lpstr>Hot backups </vt:lpstr>
      <vt:lpstr>Hot backup of a whole database</vt:lpstr>
      <vt:lpstr>Hot backup of tablespaces</vt:lpstr>
      <vt:lpstr>Control file backup</vt:lpstr>
      <vt:lpstr>Recovering from a user-managed backup</vt:lpstr>
      <vt:lpstr>Recovering from a user-managed backup</vt:lpstr>
      <vt:lpstr>A point-in-time recovery</vt:lpstr>
      <vt:lpstr>USER MANAGED - recovery scenarios</vt:lpstr>
      <vt:lpstr>USER MANAGED - recovery scenarios</vt:lpstr>
      <vt:lpstr>RMAn Utility for BACKUP</vt:lpstr>
      <vt:lpstr>RMAN architecture</vt:lpstr>
      <vt:lpstr>RMAN backup formats and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BACKUP AND RECOVERY CONCEPTS</dc:title>
  <dc:creator>Vivekchandra</dc:creator>
  <cp:lastModifiedBy>Vivekchandra Pandey</cp:lastModifiedBy>
  <cp:revision>6</cp:revision>
  <dcterms:created xsi:type="dcterms:W3CDTF">2021-06-21T14:33:39Z</dcterms:created>
  <dcterms:modified xsi:type="dcterms:W3CDTF">2021-06-29T16:26:18Z</dcterms:modified>
</cp:coreProperties>
</file>